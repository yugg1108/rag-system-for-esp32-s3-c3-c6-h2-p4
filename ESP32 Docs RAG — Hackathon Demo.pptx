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Inter" panose="020B0604020202020204" charset="0"/>
      <p:regular r:id="rId13"/>
      <p:bold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0979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01E2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890"/>
            <a:ext cx="10566400" cy="474960"/>
          </a:xfrm>
          <a:prstGeom prst="rect">
            <a:avLst/>
          </a:prstGeom>
          <a:noFill/>
          <a:ln/>
        </p:spPr>
        <p:txBody>
          <a:bodyPr wrap="square" lIns="0" tIns="0" rIns="0" bIns="0" rtlCol="0" anchor="t"/>
          <a:lstStyle>
            <a:lvl1pPr marL="0" indent="0" algn="l">
              <a:lnSpc>
                <a:spcPct val="115000"/>
              </a:lnSpc>
              <a:buNone/>
              <a:defRPr lang="en-US" sz="3400" dirty="0">
                <a:solidFill>
                  <a:srgbClr val="E8F0EE"/>
                </a:solidFill>
                <a:latin typeface="Inter" pitchFamily="34" charset="0"/>
                <a:ea typeface="Inter" pitchFamily="34" charset="-122"/>
                <a:cs typeface="Inter" pitchFamily="34" charset="-120"/>
              </a:defRPr>
            </a:lvl1pPr>
          </a:lstStyle>
          <a:p>
            <a:pPr marL="0" indent="0" algn="l">
              <a:lnSpc>
                <a:spcPct val="115000"/>
              </a:lnSpc>
              <a:buNone/>
            </a:pPr>
            <a:endParaRPr lang="en-US" sz="3400" dirty="0">
              <a:latin typeface="Inter" charset="0"/>
              <a:ea typeface="Inter" charset="0"/>
              <a:cs typeface="Inter" charset="0"/>
            </a:endParaRPr>
          </a:p>
        </p:txBody>
      </p:sp>
      <p:sp>
        <p:nvSpPr>
          <p:cNvPr id="3" name="Text Placeholder 2"/>
          <p:cNvSpPr>
            <a:spLocks noGrp="1"/>
          </p:cNvSpPr>
          <p:nvPr>
            <p:ph type="body" idx="101"/>
          </p:nvPr>
        </p:nvSpPr>
        <p:spPr>
          <a:xfrm>
            <a:off x="812800" y="1917650"/>
            <a:ext cx="10566400" cy="4127550"/>
          </a:xfrm>
          <a:prstGeom prst="rect">
            <a:avLst/>
          </a:prstGeom>
          <a:noFill/>
          <a:ln/>
        </p:spPr>
        <p:txBody>
          <a:bodyPr wrap="square" lIns="0" tIns="0" rIns="0" bIns="0" rtlCol="0" anchor="t"/>
          <a:lstStyle>
            <a:lvl1pPr marL="0" indent="0" algn="l">
              <a:lnSpc>
                <a:spcPct val="140000"/>
              </a:lnSpc>
              <a:buNone/>
              <a:defRPr lang="en-US" sz="1600" dirty="0">
                <a:solidFill>
                  <a:srgbClr val="E8F0EE"/>
                </a:solidFill>
                <a:latin typeface="Inter" pitchFamily="34" charset="0"/>
                <a:ea typeface="Inter" pitchFamily="34" charset="-122"/>
                <a:cs typeface="Inter" pitchFamily="34" charset="-120"/>
              </a:defRPr>
            </a:lvl1pPr>
          </a:lstStyle>
          <a:p>
            <a:pPr marL="0" indent="0" algn="l">
              <a:lnSpc>
                <a:spcPct val="140000"/>
              </a:lnSpc>
              <a:buNone/>
            </a:pPr>
            <a:endParaRPr lang="en-US" sz="1600" dirty="0">
              <a:latin typeface="Inter" charset="0"/>
              <a:ea typeface="Inter" charset="0"/>
              <a:cs typeface="Inter"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1E2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890"/>
            <a:ext cx="10566400" cy="474960"/>
          </a:xfrm>
          <a:prstGeom prst="rect">
            <a:avLst/>
          </a:prstGeom>
          <a:noFill/>
          <a:ln/>
        </p:spPr>
        <p:txBody>
          <a:bodyPr wrap="square" lIns="0" tIns="0" rIns="0" bIns="0" rtlCol="0" anchor="t"/>
          <a:lstStyle>
            <a:lvl1pPr marL="0" indent="0" algn="l">
              <a:lnSpc>
                <a:spcPct val="115000"/>
              </a:lnSpc>
              <a:buNone/>
              <a:defRPr lang="en-US" sz="3400" dirty="0">
                <a:solidFill>
                  <a:srgbClr val="E8F0EE"/>
                </a:solidFill>
                <a:latin typeface="Inter" pitchFamily="34" charset="0"/>
                <a:ea typeface="Inter" pitchFamily="34" charset="-122"/>
                <a:cs typeface="Inter" pitchFamily="34" charset="-120"/>
              </a:defRPr>
            </a:lvl1pPr>
          </a:lstStyle>
          <a:p>
            <a:pPr marL="0" indent="0" algn="l">
              <a:lnSpc>
                <a:spcPct val="115000"/>
              </a:lnSpc>
              <a:buNone/>
            </a:pPr>
            <a:endParaRPr lang="en-US" sz="3400" dirty="0">
              <a:latin typeface="Inter" charset="0"/>
              <a:ea typeface="Inter" charset="0"/>
              <a:cs typeface="Inter" charset="0"/>
            </a:endParaRPr>
          </a:p>
        </p:txBody>
      </p:sp>
      <p:sp>
        <p:nvSpPr>
          <p:cNvPr id="3" name="Text Placeholder 2"/>
          <p:cNvSpPr>
            <a:spLocks noGrp="1"/>
          </p:cNvSpPr>
          <p:nvPr>
            <p:ph type="body" idx="101"/>
          </p:nvPr>
        </p:nvSpPr>
        <p:spPr>
          <a:xfrm>
            <a:off x="812800" y="1917650"/>
            <a:ext cx="10566400" cy="4127550"/>
          </a:xfrm>
          <a:prstGeom prst="rect">
            <a:avLst/>
          </a:prstGeom>
          <a:noFill/>
          <a:ln/>
        </p:spPr>
        <p:txBody>
          <a:bodyPr wrap="square" lIns="0" tIns="0" rIns="0" bIns="0" rtlCol="0" anchor="t"/>
          <a:lstStyle>
            <a:lvl1pPr marL="0" indent="0" algn="l">
              <a:lnSpc>
                <a:spcPct val="140000"/>
              </a:lnSpc>
              <a:buNone/>
              <a:defRPr lang="en-US" sz="1600" dirty="0">
                <a:solidFill>
                  <a:srgbClr val="E8F0EE"/>
                </a:solidFill>
                <a:latin typeface="Inter" pitchFamily="34" charset="0"/>
                <a:ea typeface="Inter" pitchFamily="34" charset="-122"/>
                <a:cs typeface="Inter" pitchFamily="34" charset="-120"/>
              </a:defRPr>
            </a:lvl1pPr>
          </a:lstStyle>
          <a:p>
            <a:pPr marL="0" indent="0" algn="l">
              <a:lnSpc>
                <a:spcPct val="140000"/>
              </a:lnSpc>
              <a:buNone/>
            </a:pPr>
            <a:endParaRPr lang="en-US" sz="1600" dirty="0">
              <a:latin typeface="Inter" charset="0"/>
              <a:ea typeface="Inter" charset="0"/>
              <a:cs typeface="Inter" charset="0"/>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41D"/>
        </a:solidFill>
        <a:effectLst/>
      </p:bgPr>
    </p:bg>
    <p:spTree>
      <p:nvGrpSpPr>
        <p:cNvPr id="1" name=""/>
        <p:cNvGrpSpPr/>
        <p:nvPr/>
      </p:nvGrpSpPr>
      <p:grpSpPr>
        <a:xfrm>
          <a:off x="0" y="0"/>
          <a:ext cx="0" cy="0"/>
          <a:chOff x="0" y="0"/>
          <a:chExt cx="0" cy="0"/>
        </a:xfrm>
      </p:grpSpPr>
      <p:sp>
        <p:nvSpPr>
          <p:cNvPr id="2" name="Text 0"/>
          <p:cNvSpPr/>
          <p:nvPr/>
        </p:nvSpPr>
        <p:spPr>
          <a:xfrm>
            <a:off x="812800" y="212472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kern="0" spc="100" dirty="0">
                <a:solidFill>
                  <a:srgbClr val="00ED64"/>
                </a:solidFill>
                <a:latin typeface="Inter" pitchFamily="34" charset="0"/>
                <a:ea typeface="Inter" pitchFamily="34" charset="-122"/>
                <a:cs typeface="Inter" pitchFamily="34" charset="-120"/>
              </a:rPr>
              <a:t>MONGODB STUDENT HACKATHON (SVNIT) · TRACK 2: RAG ENGINE</a:t>
            </a:r>
            <a:endParaRPr lang="en-US" sz="1600" dirty="0">
              <a:latin typeface="Inter" charset="0"/>
              <a:ea typeface="Inter" charset="0"/>
              <a:cs typeface="Inter" charset="0"/>
            </a:endParaRPr>
          </a:p>
        </p:txBody>
      </p:sp>
      <p:sp>
        <p:nvSpPr>
          <p:cNvPr id="3" name="Text 1"/>
          <p:cNvSpPr>
            <a:spLocks noGrp="1"/>
          </p:cNvSpPr>
          <p:nvPr>
            <p:ph type="title"/>
          </p:nvPr>
        </p:nvSpPr>
        <p:spPr>
          <a:xfrm>
            <a:off x="812800" y="2586980"/>
            <a:ext cx="10883392" cy="932160"/>
          </a:xfrm>
          <a:prstGeom prst="rect">
            <a:avLst/>
          </a:prstGeom>
          <a:noFill/>
          <a:ln/>
        </p:spPr>
        <p:txBody>
          <a:bodyPr wrap="square" lIns="0" tIns="0" rIns="0" bIns="0" rtlCol="0" anchor="t">
            <a:normAutofit/>
          </a:bodyPr>
          <a:lstStyle/>
          <a:p>
            <a:pPr marL="0" indent="0" algn="l">
              <a:lnSpc>
                <a:spcPts val="7140"/>
              </a:lnSpc>
              <a:buNone/>
            </a:pPr>
            <a:r>
              <a:rPr lang="en-US" sz="6800" b="1" i="0" dirty="0">
                <a:solidFill>
                  <a:srgbClr val="00ED64"/>
                </a:solidFill>
                <a:latin typeface="Inter" pitchFamily="34" charset="0"/>
                <a:ea typeface="Inter" pitchFamily="34" charset="-122"/>
                <a:cs typeface="Inter" pitchFamily="34" charset="-120"/>
              </a:rPr>
              <a:t>ESP32 Docs RAG</a:t>
            </a:r>
            <a:endParaRPr lang="en-US" sz="6800" dirty="0">
              <a:latin typeface="Inter" charset="0"/>
              <a:ea typeface="Inter" charset="0"/>
              <a:cs typeface="Inter" charset="0"/>
            </a:endParaRPr>
          </a:p>
        </p:txBody>
      </p:sp>
      <p:sp>
        <p:nvSpPr>
          <p:cNvPr id="4" name="Text 2"/>
          <p:cNvSpPr/>
          <p:nvPr/>
        </p:nvSpPr>
        <p:spPr>
          <a:xfrm>
            <a:off x="812800" y="3671540"/>
            <a:ext cx="10883392" cy="421630"/>
          </a:xfrm>
          <a:prstGeom prst="rect">
            <a:avLst/>
          </a:prstGeom>
          <a:noFill/>
          <a:ln/>
        </p:spPr>
        <p:txBody>
          <a:bodyPr wrap="square" lIns="0" tIns="0" rIns="0" bIns="0" rtlCol="0" anchor="t">
            <a:normAutofit/>
          </a:bodyPr>
          <a:lstStyle/>
          <a:p>
            <a:pPr marL="0" indent="0" algn="l">
              <a:lnSpc>
                <a:spcPts val="3120"/>
              </a:lnSpc>
              <a:buNone/>
            </a:pPr>
            <a:r>
              <a:rPr lang="en-US" sz="2400" dirty="0">
                <a:solidFill>
                  <a:srgbClr val="E8F0EE"/>
                </a:solidFill>
                <a:latin typeface="Inter" pitchFamily="34" charset="0"/>
                <a:ea typeface="Inter" pitchFamily="34" charset="-122"/>
                <a:cs typeface="Inter" pitchFamily="34" charset="-120"/>
              </a:rPr>
              <a:t>An evidence-backed assistant for the ESP32 chip family</a:t>
            </a:r>
            <a:endParaRPr lang="en-US" sz="2400" dirty="0">
              <a:latin typeface="Inter" charset="0"/>
              <a:ea typeface="Inter" charset="0"/>
              <a:cs typeface="Inter" charset="0"/>
            </a:endParaRPr>
          </a:p>
        </p:txBody>
      </p:sp>
      <p:sp>
        <p:nvSpPr>
          <p:cNvPr id="5" name="Text 3"/>
          <p:cNvSpPr/>
          <p:nvPr/>
        </p:nvSpPr>
        <p:spPr>
          <a:xfrm>
            <a:off x="812800" y="424557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9DB4AE"/>
                </a:solidFill>
                <a:latin typeface="Inter" pitchFamily="34" charset="0"/>
                <a:ea typeface="Inter" pitchFamily="34" charset="-122"/>
                <a:cs typeface="Inter" pitchFamily="34" charset="-120"/>
              </a:rPr>
              <a:t>Team Complex </a:t>
            </a:r>
            <a:endParaRPr lang="en-US" sz="1600" dirty="0">
              <a:latin typeface="Inter" charset="0"/>
              <a:ea typeface="Inter" charset="0"/>
              <a:cs typeface="Inter" charset="0"/>
            </a:endParaRPr>
          </a:p>
        </p:txBody>
      </p:sp>
      <p:sp>
        <p:nvSpPr>
          <p:cNvPr id="6" name="Text 4"/>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DB4AE"/>
                </a:solidFill>
                <a:latin typeface="Inter" pitchFamily="34" charset="0"/>
                <a:ea typeface="Inter" pitchFamily="34" charset="-122"/>
                <a:cs typeface="Inter" pitchFamily="34" charset="-120"/>
              </a:rPr>
              <a:t>ESP32 Docs RAG · 1/10</a:t>
            </a:r>
            <a:endParaRPr lang="en-US" sz="1200" dirty="0">
              <a:latin typeface="Inter" charset="0"/>
              <a:ea typeface="Inter" charset="0"/>
              <a:cs typeface="Inter"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1E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0ED64"/>
                </a:solidFill>
                <a:latin typeface="Inter" pitchFamily="34" charset="0"/>
                <a:ea typeface="Inter" pitchFamily="34" charset="-122"/>
                <a:cs typeface="Inter" pitchFamily="34" charset="-120"/>
              </a:rPr>
              <a:t>THE PROBLEM</a:t>
            </a:r>
            <a:endParaRPr lang="en-US" sz="1400" dirty="0">
              <a:latin typeface="Inter" charset="0"/>
              <a:ea typeface="Inter" charset="0"/>
              <a:cs typeface="Inter" charset="0"/>
            </a:endParaRPr>
          </a:p>
        </p:txBody>
      </p:sp>
      <p:sp>
        <p:nvSpPr>
          <p:cNvPr id="3" name="Text 1"/>
          <p:cNvSpPr>
            <a:spLocks noGrp="1"/>
          </p:cNvSpPr>
          <p:nvPr>
            <p:ph type="title"/>
          </p:nvPr>
        </p:nvSpPr>
        <p:spPr>
          <a:xfrm>
            <a:off x="812800" y="113789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E8F0EE"/>
                </a:solidFill>
                <a:latin typeface="Inter" pitchFamily="34" charset="0"/>
                <a:ea typeface="Inter" pitchFamily="34" charset="-122"/>
                <a:cs typeface="Inter" pitchFamily="34" charset="-120"/>
              </a:rPr>
              <a:t>Chip docs are easy to mix up</a:t>
            </a:r>
            <a:endParaRPr lang="en-US" sz="3400" dirty="0">
              <a:latin typeface="Inter" charset="0"/>
              <a:ea typeface="Inter" charset="0"/>
              <a:cs typeface="Inter" charset="0"/>
            </a:endParaRPr>
          </a:p>
        </p:txBody>
      </p:sp>
      <p:sp>
        <p:nvSpPr>
          <p:cNvPr id="4" name="Text 2"/>
          <p:cNvSpPr/>
          <p:nvPr/>
        </p:nvSpPr>
        <p:spPr>
          <a:xfrm>
            <a:off x="834898" y="1917650"/>
            <a:ext cx="10853674" cy="1825476"/>
          </a:xfrm>
          <a:prstGeom prst="rect">
            <a:avLst/>
          </a:prstGeom>
          <a:noFill/>
          <a:ln/>
        </p:spPr>
        <p:txBody>
          <a:bodyPr wrap="square" lIns="0" tIns="0" rIns="0" bIns="0" rtlCol="0" anchor="t">
            <a:normAutofit/>
          </a:bodyPr>
          <a:lstStyle/>
          <a:p>
            <a:pPr marL="231902" indent="-231902" algn="l">
              <a:lnSpc>
                <a:spcPts val="2835"/>
              </a:lnSpc>
              <a:buSzPct val="100000"/>
              <a:buChar char="•"/>
            </a:pPr>
            <a:r>
              <a:rPr lang="en-US" sz="2100" dirty="0">
                <a:solidFill>
                  <a:srgbClr val="E8F0EE"/>
                </a:solidFill>
                <a:latin typeface="Inter" pitchFamily="34" charset="0"/>
                <a:ea typeface="Inter" pitchFamily="34" charset="-122"/>
                <a:cs typeface="Inter" pitchFamily="34" charset="-120"/>
              </a:rPr>
              <a:t>ESP32, S3, C3, C6, H2 and P4 each have their own datasheet and errata, hundreds of pages each</a:t>
            </a:r>
            <a:endParaRPr lang="en-US" sz="2100" dirty="0">
              <a:latin typeface="Inter" charset="0"/>
              <a:ea typeface="Inter" charset="0"/>
              <a:cs typeface="Inter" charset="0"/>
            </a:endParaRPr>
          </a:p>
          <a:p>
            <a:pPr marL="231902" indent="-231902" algn="l">
              <a:lnSpc>
                <a:spcPts val="2835"/>
              </a:lnSpc>
              <a:buSzPct val="100000"/>
              <a:buChar char="•"/>
            </a:pPr>
            <a:r>
              <a:rPr lang="en-US" sz="2100" dirty="0">
                <a:solidFill>
                  <a:srgbClr val="E8F0EE"/>
                </a:solidFill>
                <a:latin typeface="Inter" pitchFamily="34" charset="0"/>
                <a:ea typeface="Inter" pitchFamily="34" charset="-122"/>
                <a:cs typeface="Inter" pitchFamily="34" charset="-120"/>
              </a:rPr>
              <a:t>The same section names (GPIO, pin overview, boot) repeat across chips, so facts get mixed between chips</a:t>
            </a:r>
            <a:endParaRPr lang="en-US" sz="2100" dirty="0">
              <a:latin typeface="Inter" charset="0"/>
              <a:ea typeface="Inter" charset="0"/>
              <a:cs typeface="Inter" charset="0"/>
            </a:endParaRPr>
          </a:p>
          <a:p>
            <a:pPr marL="231902" indent="-231902" algn="l">
              <a:lnSpc>
                <a:spcPts val="2835"/>
              </a:lnSpc>
              <a:buSzPct val="100000"/>
              <a:buChar char="•"/>
            </a:pPr>
            <a:r>
              <a:rPr lang="en-US" sz="2100" dirty="0">
                <a:solidFill>
                  <a:srgbClr val="E8F0EE"/>
                </a:solidFill>
                <a:latin typeface="Inter" pitchFamily="34" charset="0"/>
                <a:ea typeface="Inter" pitchFamily="34" charset="-122"/>
                <a:cs typeface="Inter" pitchFamily="34" charset="-120"/>
              </a:rPr>
              <a:t>Datasheets and errata can qualify or contradict each other</a:t>
            </a:r>
            <a:endParaRPr lang="en-US" sz="2100" dirty="0">
              <a:latin typeface="Inter" charset="0"/>
              <a:ea typeface="Inter" charset="0"/>
              <a:cs typeface="Inter" charset="0"/>
            </a:endParaRPr>
          </a:p>
        </p:txBody>
      </p:sp>
      <p:sp>
        <p:nvSpPr>
          <p:cNvPr id="5"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DB4AE"/>
                </a:solidFill>
                <a:latin typeface="Inter" pitchFamily="34" charset="0"/>
                <a:ea typeface="Inter" pitchFamily="34" charset="-122"/>
                <a:cs typeface="Inter" pitchFamily="34" charset="-120"/>
              </a:rPr>
              <a:t>ESP32 Docs RAG · 2/10</a:t>
            </a:r>
            <a:endParaRPr lang="en-US" sz="1200" dirty="0">
              <a:latin typeface="Inter" charset="0"/>
              <a:ea typeface="Inter" charset="0"/>
              <a:cs typeface="Inter"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1E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0ED64"/>
                </a:solidFill>
                <a:latin typeface="Inter" pitchFamily="34" charset="0"/>
                <a:ea typeface="Inter" pitchFamily="34" charset="-122"/>
                <a:cs typeface="Inter" pitchFamily="34" charset="-120"/>
              </a:rPr>
              <a:t>THE SOLUTION</a:t>
            </a:r>
            <a:endParaRPr lang="en-US" sz="1400" dirty="0">
              <a:latin typeface="Inter" charset="0"/>
              <a:ea typeface="Inter" charset="0"/>
              <a:cs typeface="Inter" charset="0"/>
            </a:endParaRPr>
          </a:p>
        </p:txBody>
      </p:sp>
      <p:sp>
        <p:nvSpPr>
          <p:cNvPr id="3" name="Text 1"/>
          <p:cNvSpPr>
            <a:spLocks noGrp="1"/>
          </p:cNvSpPr>
          <p:nvPr>
            <p:ph type="title"/>
          </p:nvPr>
        </p:nvSpPr>
        <p:spPr>
          <a:xfrm>
            <a:off x="812800" y="113789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E8F0EE"/>
                </a:solidFill>
                <a:latin typeface="Inter" pitchFamily="34" charset="0"/>
                <a:ea typeface="Inter" pitchFamily="34" charset="-122"/>
                <a:cs typeface="Inter" pitchFamily="34" charset="-120"/>
              </a:rPr>
              <a:t>A RAG app that answers from the docs only</a:t>
            </a:r>
            <a:endParaRPr lang="en-US" sz="3400" dirty="0">
              <a:latin typeface="Inter" charset="0"/>
              <a:ea typeface="Inter" charset="0"/>
              <a:cs typeface="Inter" charset="0"/>
            </a:endParaRPr>
          </a:p>
        </p:txBody>
      </p:sp>
      <p:sp>
        <p:nvSpPr>
          <p:cNvPr id="4" name="Shape 2"/>
          <p:cNvSpPr/>
          <p:nvPr/>
        </p:nvSpPr>
        <p:spPr>
          <a:xfrm>
            <a:off x="815975" y="1920825"/>
            <a:ext cx="3380284" cy="1891010"/>
          </a:xfrm>
          <a:prstGeom prst="roundRect">
            <a:avLst>
              <a:gd name="adj" fmla="val 6548"/>
            </a:avLst>
          </a:prstGeom>
          <a:solidFill>
            <a:srgbClr val="0B2F3F"/>
          </a:solidFill>
          <a:ln w="6350">
            <a:solidFill>
              <a:srgbClr val="1C4556"/>
            </a:solidFill>
            <a:prstDash val="solid"/>
          </a:ln>
        </p:spPr>
      </p:sp>
      <p:sp>
        <p:nvSpPr>
          <p:cNvPr id="5" name="Text 3"/>
          <p:cNvSpPr/>
          <p:nvPr/>
        </p:nvSpPr>
        <p:spPr>
          <a:xfrm>
            <a:off x="1073150" y="2178000"/>
            <a:ext cx="2951912"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ED64"/>
                </a:solidFill>
                <a:latin typeface="Inter" pitchFamily="34" charset="0"/>
                <a:ea typeface="Inter" pitchFamily="34" charset="-122"/>
                <a:cs typeface="Inter" pitchFamily="34" charset="-120"/>
              </a:rPr>
              <a:t>Grounded</a:t>
            </a:r>
            <a:endParaRPr lang="en-US" sz="1700" dirty="0">
              <a:latin typeface="Inter" charset="0"/>
              <a:ea typeface="Inter" charset="0"/>
              <a:cs typeface="Inter" charset="0"/>
            </a:endParaRPr>
          </a:p>
        </p:txBody>
      </p:sp>
      <p:sp>
        <p:nvSpPr>
          <p:cNvPr id="6" name="Text 4"/>
          <p:cNvSpPr/>
          <p:nvPr/>
        </p:nvSpPr>
        <p:spPr>
          <a:xfrm>
            <a:off x="1073150" y="2525961"/>
            <a:ext cx="2951912"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E8F0EE"/>
                </a:solidFill>
                <a:latin typeface="Inter" pitchFamily="34" charset="0"/>
                <a:ea typeface="Inter" pitchFamily="34" charset="-122"/>
                <a:cs typeface="Inter" pitchFamily="34" charset="-120"/>
              </a:rPr>
              <a:t>Answers hardware questions only from the official docs.</a:t>
            </a:r>
            <a:endParaRPr lang="en-US" sz="1500" dirty="0">
              <a:latin typeface="Inter" charset="0"/>
              <a:ea typeface="Inter" charset="0"/>
              <a:cs typeface="Inter" charset="0"/>
            </a:endParaRPr>
          </a:p>
        </p:txBody>
      </p:sp>
      <p:sp>
        <p:nvSpPr>
          <p:cNvPr id="7" name="Shape 5"/>
          <p:cNvSpPr/>
          <p:nvPr/>
        </p:nvSpPr>
        <p:spPr>
          <a:xfrm>
            <a:off x="4405809" y="1920825"/>
            <a:ext cx="3380333" cy="1891010"/>
          </a:xfrm>
          <a:prstGeom prst="roundRect">
            <a:avLst>
              <a:gd name="adj" fmla="val 6548"/>
            </a:avLst>
          </a:prstGeom>
          <a:solidFill>
            <a:srgbClr val="0B2F3F"/>
          </a:solidFill>
          <a:ln w="6350">
            <a:solidFill>
              <a:srgbClr val="1C4556"/>
            </a:solidFill>
            <a:prstDash val="solid"/>
          </a:ln>
        </p:spPr>
      </p:sp>
      <p:sp>
        <p:nvSpPr>
          <p:cNvPr id="8" name="Text 6"/>
          <p:cNvSpPr/>
          <p:nvPr/>
        </p:nvSpPr>
        <p:spPr>
          <a:xfrm>
            <a:off x="4662984" y="2178000"/>
            <a:ext cx="295196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ED64"/>
                </a:solidFill>
                <a:latin typeface="Inter" pitchFamily="34" charset="0"/>
                <a:ea typeface="Inter" pitchFamily="34" charset="-122"/>
                <a:cs typeface="Inter" pitchFamily="34" charset="-120"/>
              </a:rPr>
              <a:t>Cited</a:t>
            </a:r>
            <a:endParaRPr lang="en-US" sz="1700" dirty="0">
              <a:latin typeface="Inter" charset="0"/>
              <a:ea typeface="Inter" charset="0"/>
              <a:cs typeface="Inter" charset="0"/>
            </a:endParaRPr>
          </a:p>
        </p:txBody>
      </p:sp>
      <p:sp>
        <p:nvSpPr>
          <p:cNvPr id="9" name="Text 7"/>
          <p:cNvSpPr/>
          <p:nvPr/>
        </p:nvSpPr>
        <p:spPr>
          <a:xfrm>
            <a:off x="4662984" y="2525961"/>
            <a:ext cx="2951963"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E8F0EE"/>
                </a:solidFill>
                <a:latin typeface="Inter" pitchFamily="34" charset="0"/>
                <a:ea typeface="Inter" pitchFamily="34" charset="-122"/>
                <a:cs typeface="Inter" pitchFamily="34" charset="-120"/>
              </a:rPr>
              <a:t>Cites the exact PDF and page for every claim.</a:t>
            </a:r>
            <a:endParaRPr lang="en-US" sz="1500" dirty="0">
              <a:latin typeface="Inter" charset="0"/>
              <a:ea typeface="Inter" charset="0"/>
              <a:cs typeface="Inter" charset="0"/>
            </a:endParaRPr>
          </a:p>
        </p:txBody>
      </p:sp>
      <p:sp>
        <p:nvSpPr>
          <p:cNvPr id="10" name="Shape 8"/>
          <p:cNvSpPr/>
          <p:nvPr/>
        </p:nvSpPr>
        <p:spPr>
          <a:xfrm>
            <a:off x="7995692" y="1920825"/>
            <a:ext cx="3380333" cy="1891010"/>
          </a:xfrm>
          <a:prstGeom prst="roundRect">
            <a:avLst>
              <a:gd name="adj" fmla="val 6548"/>
            </a:avLst>
          </a:prstGeom>
          <a:solidFill>
            <a:srgbClr val="0B2F3F"/>
          </a:solidFill>
          <a:ln w="6350">
            <a:solidFill>
              <a:srgbClr val="1C4556"/>
            </a:solidFill>
            <a:prstDash val="solid"/>
          </a:ln>
        </p:spPr>
      </p:sp>
      <p:sp>
        <p:nvSpPr>
          <p:cNvPr id="11" name="Text 9"/>
          <p:cNvSpPr/>
          <p:nvPr/>
        </p:nvSpPr>
        <p:spPr>
          <a:xfrm>
            <a:off x="8252867" y="2178000"/>
            <a:ext cx="295196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ED64"/>
                </a:solidFill>
                <a:latin typeface="Inter" pitchFamily="34" charset="0"/>
                <a:ea typeface="Inter" pitchFamily="34" charset="-122"/>
                <a:cs typeface="Inter" pitchFamily="34" charset="-120"/>
              </a:rPr>
              <a:t>Honest</a:t>
            </a:r>
            <a:endParaRPr lang="en-US" sz="1700" dirty="0">
              <a:latin typeface="Inter" charset="0"/>
              <a:ea typeface="Inter" charset="0"/>
              <a:cs typeface="Inter" charset="0"/>
            </a:endParaRPr>
          </a:p>
        </p:txBody>
      </p:sp>
      <p:sp>
        <p:nvSpPr>
          <p:cNvPr id="12" name="Text 10"/>
          <p:cNvSpPr/>
          <p:nvPr/>
        </p:nvSpPr>
        <p:spPr>
          <a:xfrm>
            <a:off x="8252867" y="2525961"/>
            <a:ext cx="2951963" cy="105410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E8F0EE"/>
                </a:solidFill>
                <a:latin typeface="Inter" pitchFamily="34" charset="0"/>
                <a:ea typeface="Inter" pitchFamily="34" charset="-122"/>
                <a:cs typeface="Inter" pitchFamily="34" charset="-120"/>
              </a:rPr>
              <a:t>Says “not enough information” when the docs don’t support an answer, e.g. Wi-Fi on a chip with no radio.</a:t>
            </a:r>
            <a:endParaRPr lang="en-US" sz="1500" dirty="0">
              <a:latin typeface="Inter" charset="0"/>
              <a:ea typeface="Inter" charset="0"/>
              <a:cs typeface="Inter" charset="0"/>
            </a:endParaRPr>
          </a:p>
        </p:txBody>
      </p:sp>
      <p:sp>
        <p:nvSpPr>
          <p:cNvPr id="13" name="Text 11"/>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DB4AE"/>
                </a:solidFill>
                <a:latin typeface="Inter" pitchFamily="34" charset="0"/>
                <a:ea typeface="Inter" pitchFamily="34" charset="-122"/>
                <a:cs typeface="Inter" pitchFamily="34" charset="-120"/>
              </a:rPr>
              <a:t>ESP32 Docs RAG · 3/10</a:t>
            </a:r>
            <a:endParaRPr lang="en-US" sz="1200" dirty="0">
              <a:latin typeface="Inter" charset="0"/>
              <a:ea typeface="Inter" charset="0"/>
              <a:cs typeface="Inter"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141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0ED64"/>
                </a:solidFill>
                <a:latin typeface="Inter" pitchFamily="34" charset="0"/>
                <a:ea typeface="Inter" pitchFamily="34" charset="-122"/>
                <a:cs typeface="Inter" pitchFamily="34" charset="-120"/>
              </a:rPr>
              <a:t>THE DATA</a:t>
            </a:r>
            <a:endParaRPr lang="en-US" sz="1400" dirty="0">
              <a:latin typeface="Inter" charset="0"/>
              <a:ea typeface="Inter" charset="0"/>
              <a:cs typeface="Inter" charset="0"/>
            </a:endParaRPr>
          </a:p>
        </p:txBody>
      </p:sp>
      <p:sp>
        <p:nvSpPr>
          <p:cNvPr id="3" name="Text 1"/>
          <p:cNvSpPr>
            <a:spLocks noGrp="1"/>
          </p:cNvSpPr>
          <p:nvPr>
            <p:ph type="title"/>
          </p:nvPr>
        </p:nvSpPr>
        <p:spPr>
          <a:xfrm>
            <a:off x="812800" y="113789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E8F0EE"/>
                </a:solidFill>
                <a:latin typeface="Inter" pitchFamily="34" charset="0"/>
                <a:ea typeface="Inter" pitchFamily="34" charset="-122"/>
                <a:cs typeface="Inter" pitchFamily="34" charset="-120"/>
              </a:rPr>
              <a:t>Official Espressif docs, 6 chips</a:t>
            </a:r>
            <a:endParaRPr lang="en-US" sz="3400" dirty="0">
              <a:latin typeface="Inter" charset="0"/>
              <a:ea typeface="Inter" charset="0"/>
              <a:cs typeface="Inter" charset="0"/>
            </a:endParaRPr>
          </a:p>
        </p:txBody>
      </p:sp>
      <p:sp>
        <p:nvSpPr>
          <p:cNvPr id="5" name="Text 3"/>
          <p:cNvSpPr/>
          <p:nvPr/>
        </p:nvSpPr>
        <p:spPr>
          <a:xfrm>
            <a:off x="812800" y="1920825"/>
            <a:ext cx="808485" cy="529580"/>
          </a:xfrm>
          <a:prstGeom prst="roundRect">
            <a:avLst>
              <a:gd name="adj" fmla="val 50000"/>
            </a:avLst>
          </a:prstGeom>
          <a:solidFill>
            <a:srgbClr val="0B2F3F"/>
          </a:solidFill>
          <a:ln w="6350">
            <a:solidFill>
              <a:srgbClr val="00ED64"/>
            </a:solidFill>
            <a:prstDash val="solid"/>
          </a:ln>
        </p:spPr>
        <p:txBody>
          <a:bodyPr wrap="none" lIns="0" tIns="0" rIns="0" bIns="0" rtlCol="0" anchor="ctr">
            <a:normAutofit/>
          </a:bodyPr>
          <a:lstStyle/>
          <a:p>
            <a:pPr marL="0" indent="0" algn="ctr">
              <a:lnSpc>
                <a:spcPts val="2520"/>
              </a:lnSpc>
              <a:buNone/>
            </a:pPr>
            <a:r>
              <a:rPr lang="en-US" sz="1800" b="1" dirty="0">
                <a:solidFill>
                  <a:srgbClr val="00ED64"/>
                </a:solidFill>
                <a:latin typeface="Inter" pitchFamily="34" charset="0"/>
                <a:ea typeface="Inter" pitchFamily="34" charset="-122"/>
                <a:cs typeface="Inter" pitchFamily="34" charset="-120"/>
              </a:rPr>
              <a:t>S3</a:t>
            </a:r>
            <a:endParaRPr lang="en-US" sz="1800" dirty="0">
              <a:latin typeface="Inter" charset="0"/>
              <a:ea typeface="Inter" charset="0"/>
              <a:cs typeface="Inter" charset="0"/>
            </a:endParaRPr>
          </a:p>
        </p:txBody>
      </p:sp>
      <p:sp>
        <p:nvSpPr>
          <p:cNvPr id="6" name="Text 4"/>
          <p:cNvSpPr/>
          <p:nvPr/>
        </p:nvSpPr>
        <p:spPr>
          <a:xfrm>
            <a:off x="1754634" y="1920825"/>
            <a:ext cx="828179" cy="529580"/>
          </a:xfrm>
          <a:prstGeom prst="roundRect">
            <a:avLst>
              <a:gd name="adj" fmla="val 50000"/>
            </a:avLst>
          </a:prstGeom>
          <a:solidFill>
            <a:srgbClr val="0B2F3F"/>
          </a:solidFill>
          <a:ln w="6350">
            <a:solidFill>
              <a:srgbClr val="00ED64"/>
            </a:solidFill>
            <a:prstDash val="solid"/>
          </a:ln>
        </p:spPr>
        <p:txBody>
          <a:bodyPr wrap="none" lIns="0" tIns="0" rIns="0" bIns="0" rtlCol="0" anchor="ctr">
            <a:normAutofit/>
          </a:bodyPr>
          <a:lstStyle/>
          <a:p>
            <a:pPr marL="0" indent="0" algn="ctr">
              <a:lnSpc>
                <a:spcPts val="2520"/>
              </a:lnSpc>
              <a:buNone/>
            </a:pPr>
            <a:r>
              <a:rPr lang="en-US" sz="1800" b="1" dirty="0">
                <a:solidFill>
                  <a:srgbClr val="00ED64"/>
                </a:solidFill>
                <a:latin typeface="Inter" pitchFamily="34" charset="0"/>
                <a:ea typeface="Inter" pitchFamily="34" charset="-122"/>
                <a:cs typeface="Inter" pitchFamily="34" charset="-120"/>
              </a:rPr>
              <a:t>C3</a:t>
            </a:r>
            <a:endParaRPr lang="en-US" sz="1800" dirty="0">
              <a:latin typeface="Inter" charset="0"/>
              <a:ea typeface="Inter" charset="0"/>
              <a:cs typeface="Inter" charset="0"/>
            </a:endParaRPr>
          </a:p>
        </p:txBody>
      </p:sp>
      <p:sp>
        <p:nvSpPr>
          <p:cNvPr id="7" name="Text 5"/>
          <p:cNvSpPr/>
          <p:nvPr/>
        </p:nvSpPr>
        <p:spPr>
          <a:xfrm>
            <a:off x="2716163" y="1920825"/>
            <a:ext cx="829022" cy="529580"/>
          </a:xfrm>
          <a:prstGeom prst="roundRect">
            <a:avLst>
              <a:gd name="adj" fmla="val 50000"/>
            </a:avLst>
          </a:prstGeom>
          <a:solidFill>
            <a:srgbClr val="0B2F3F"/>
          </a:solidFill>
          <a:ln w="6350">
            <a:solidFill>
              <a:srgbClr val="00ED64"/>
            </a:solidFill>
            <a:prstDash val="solid"/>
          </a:ln>
        </p:spPr>
        <p:txBody>
          <a:bodyPr wrap="none" lIns="0" tIns="0" rIns="0" bIns="0" rtlCol="0" anchor="ctr">
            <a:normAutofit/>
          </a:bodyPr>
          <a:lstStyle/>
          <a:p>
            <a:pPr marL="0" indent="0" algn="ctr">
              <a:lnSpc>
                <a:spcPts val="2520"/>
              </a:lnSpc>
              <a:buNone/>
            </a:pPr>
            <a:r>
              <a:rPr lang="en-US" sz="1800" b="1" dirty="0">
                <a:solidFill>
                  <a:srgbClr val="00ED64"/>
                </a:solidFill>
                <a:latin typeface="Inter" pitchFamily="34" charset="0"/>
                <a:ea typeface="Inter" pitchFamily="34" charset="-122"/>
                <a:cs typeface="Inter" pitchFamily="34" charset="-120"/>
              </a:rPr>
              <a:t>C6</a:t>
            </a:r>
            <a:endParaRPr lang="en-US" sz="1800" dirty="0">
              <a:latin typeface="Inter" charset="0"/>
              <a:ea typeface="Inter" charset="0"/>
              <a:cs typeface="Inter" charset="0"/>
            </a:endParaRPr>
          </a:p>
        </p:txBody>
      </p:sp>
      <p:sp>
        <p:nvSpPr>
          <p:cNvPr id="8" name="Text 6"/>
          <p:cNvSpPr/>
          <p:nvPr/>
        </p:nvSpPr>
        <p:spPr>
          <a:xfrm>
            <a:off x="3678535" y="1920825"/>
            <a:ext cx="827237" cy="529580"/>
          </a:xfrm>
          <a:prstGeom prst="roundRect">
            <a:avLst>
              <a:gd name="adj" fmla="val 50000"/>
            </a:avLst>
          </a:prstGeom>
          <a:solidFill>
            <a:srgbClr val="0B2F3F"/>
          </a:solidFill>
          <a:ln w="6350">
            <a:solidFill>
              <a:srgbClr val="00ED64"/>
            </a:solidFill>
            <a:prstDash val="solid"/>
          </a:ln>
        </p:spPr>
        <p:txBody>
          <a:bodyPr wrap="none" lIns="0" tIns="0" rIns="0" bIns="0" rtlCol="0" anchor="ctr">
            <a:normAutofit/>
          </a:bodyPr>
          <a:lstStyle/>
          <a:p>
            <a:pPr marL="0" indent="0" algn="ctr">
              <a:lnSpc>
                <a:spcPts val="2520"/>
              </a:lnSpc>
              <a:buNone/>
            </a:pPr>
            <a:r>
              <a:rPr lang="en-US" sz="1800" b="1" dirty="0">
                <a:solidFill>
                  <a:srgbClr val="00ED64"/>
                </a:solidFill>
                <a:latin typeface="Inter" pitchFamily="34" charset="0"/>
                <a:ea typeface="Inter" pitchFamily="34" charset="-122"/>
                <a:cs typeface="Inter" pitchFamily="34" charset="-120"/>
              </a:rPr>
              <a:t>H2</a:t>
            </a:r>
            <a:endParaRPr lang="en-US" sz="1800" dirty="0">
              <a:latin typeface="Inter" charset="0"/>
              <a:ea typeface="Inter" charset="0"/>
              <a:cs typeface="Inter" charset="0"/>
            </a:endParaRPr>
          </a:p>
        </p:txBody>
      </p:sp>
      <p:sp>
        <p:nvSpPr>
          <p:cNvPr id="9" name="Text 7"/>
          <p:cNvSpPr/>
          <p:nvPr/>
        </p:nvSpPr>
        <p:spPr>
          <a:xfrm>
            <a:off x="4639121" y="1920825"/>
            <a:ext cx="814140" cy="529580"/>
          </a:xfrm>
          <a:prstGeom prst="roundRect">
            <a:avLst>
              <a:gd name="adj" fmla="val 50000"/>
            </a:avLst>
          </a:prstGeom>
          <a:solidFill>
            <a:srgbClr val="0B2F3F"/>
          </a:solidFill>
          <a:ln w="6350">
            <a:solidFill>
              <a:srgbClr val="00ED64"/>
            </a:solidFill>
            <a:prstDash val="solid"/>
          </a:ln>
        </p:spPr>
        <p:txBody>
          <a:bodyPr wrap="none" lIns="0" tIns="0" rIns="0" bIns="0" rtlCol="0" anchor="ctr">
            <a:normAutofit/>
          </a:bodyPr>
          <a:lstStyle/>
          <a:p>
            <a:pPr marL="0" indent="0" algn="ctr">
              <a:lnSpc>
                <a:spcPts val="2520"/>
              </a:lnSpc>
              <a:buNone/>
            </a:pPr>
            <a:r>
              <a:rPr lang="en-US" sz="1800" b="1" dirty="0">
                <a:solidFill>
                  <a:srgbClr val="00ED64"/>
                </a:solidFill>
                <a:latin typeface="Inter" pitchFamily="34" charset="0"/>
                <a:ea typeface="Inter" pitchFamily="34" charset="-122"/>
                <a:cs typeface="Inter" pitchFamily="34" charset="-120"/>
              </a:rPr>
              <a:t>P4</a:t>
            </a:r>
            <a:endParaRPr lang="en-US" sz="1800" dirty="0">
              <a:latin typeface="Inter" charset="0"/>
              <a:ea typeface="Inter" charset="0"/>
              <a:cs typeface="Inter" charset="0"/>
            </a:endParaRPr>
          </a:p>
        </p:txBody>
      </p:sp>
      <p:sp>
        <p:nvSpPr>
          <p:cNvPr id="10" name="Text 8"/>
          <p:cNvSpPr/>
          <p:nvPr/>
        </p:nvSpPr>
        <p:spPr>
          <a:xfrm>
            <a:off x="842010" y="2758380"/>
            <a:ext cx="10846562" cy="711200"/>
          </a:xfrm>
          <a:prstGeom prst="rect">
            <a:avLst/>
          </a:prstGeom>
          <a:noFill/>
          <a:ln/>
        </p:spPr>
        <p:txBody>
          <a:bodyPr wrap="square" lIns="0" tIns="0" rIns="0" bIns="0" rtlCol="0" anchor="t">
            <a:normAutofit/>
          </a:bodyPr>
          <a:lstStyle/>
          <a:p>
            <a:pPr marL="224790" indent="-224790" algn="l">
              <a:lnSpc>
                <a:spcPts val="2700"/>
              </a:lnSpc>
              <a:buSzPct val="100000"/>
              <a:buChar char="•"/>
            </a:pPr>
            <a:r>
              <a:rPr lang="en-US" sz="2000" dirty="0">
                <a:solidFill>
                  <a:srgbClr val="E8F0EE"/>
                </a:solidFill>
                <a:latin typeface="Inter" pitchFamily="34" charset="0"/>
                <a:ea typeface="Inter" pitchFamily="34" charset="-122"/>
                <a:cs typeface="Inter" pitchFamily="34" charset="-120"/>
              </a:rPr>
              <a:t>Datasheet + errata PDFs for each of the 5 versions</a:t>
            </a:r>
            <a:endParaRPr lang="en-US" sz="2000" dirty="0">
              <a:latin typeface="Inter" charset="0"/>
              <a:ea typeface="Inter" charset="0"/>
              <a:cs typeface="Inter" charset="0"/>
            </a:endParaRPr>
          </a:p>
          <a:p>
            <a:pPr marL="224790" indent="-224790" algn="l">
              <a:lnSpc>
                <a:spcPts val="2700"/>
              </a:lnSpc>
              <a:buSzPct val="100000"/>
              <a:buChar char="•"/>
            </a:pPr>
            <a:r>
              <a:rPr lang="en-US" sz="2000" dirty="0">
                <a:solidFill>
                  <a:srgbClr val="E8F0EE"/>
                </a:solidFill>
                <a:latin typeface="Inter" pitchFamily="34" charset="0"/>
                <a:ea typeface="Inter" pitchFamily="34" charset="-122"/>
                <a:cs typeface="Inter" pitchFamily="34" charset="-120"/>
              </a:rPr>
              <a:t>Plus a few supporting notes/pages</a:t>
            </a:r>
            <a:endParaRPr lang="en-US" sz="2000" dirty="0">
              <a:latin typeface="Inter" charset="0"/>
              <a:ea typeface="Inter" charset="0"/>
              <a:cs typeface="Inter" charset="0"/>
            </a:endParaRPr>
          </a:p>
        </p:txBody>
      </p:sp>
      <p:sp>
        <p:nvSpPr>
          <p:cNvPr id="11" name="Shape 9"/>
          <p:cNvSpPr/>
          <p:nvPr/>
        </p:nvSpPr>
        <p:spPr>
          <a:xfrm>
            <a:off x="815975" y="3752155"/>
            <a:ext cx="10560050" cy="1103561"/>
          </a:xfrm>
          <a:prstGeom prst="roundRect">
            <a:avLst>
              <a:gd name="adj" fmla="val 11220"/>
            </a:avLst>
          </a:prstGeom>
          <a:solidFill>
            <a:srgbClr val="0B2F3F"/>
          </a:solidFill>
          <a:ln w="6350">
            <a:solidFill>
              <a:srgbClr val="1C4556"/>
            </a:solidFill>
            <a:prstDash val="solid"/>
          </a:ln>
        </p:spPr>
      </p:sp>
      <p:sp>
        <p:nvSpPr>
          <p:cNvPr id="12" name="Text 10"/>
          <p:cNvSpPr/>
          <p:nvPr/>
        </p:nvSpPr>
        <p:spPr>
          <a:xfrm>
            <a:off x="1073150" y="3958530"/>
            <a:ext cx="10347071"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9DB4AE"/>
                </a:solidFill>
                <a:latin typeface="Inter" pitchFamily="34" charset="0"/>
                <a:ea typeface="Inter" pitchFamily="34" charset="-122"/>
                <a:cs typeface="Inter" pitchFamily="34" charset="-120"/>
              </a:rPr>
              <a:t>Chunks indexed so far</a:t>
            </a:r>
            <a:endParaRPr lang="en-US" sz="1400" dirty="0">
              <a:latin typeface="Inter" charset="0"/>
              <a:ea typeface="Inter" charset="0"/>
              <a:cs typeface="Inter" charset="0"/>
            </a:endParaRPr>
          </a:p>
        </p:txBody>
      </p:sp>
      <p:sp>
        <p:nvSpPr>
          <p:cNvPr id="13" name="Text 11"/>
          <p:cNvSpPr/>
          <p:nvPr/>
        </p:nvSpPr>
        <p:spPr>
          <a:xfrm>
            <a:off x="1073150" y="4258221"/>
            <a:ext cx="10347071"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00ED64"/>
                </a:solidFill>
                <a:latin typeface="Inter" pitchFamily="34" charset="0"/>
                <a:ea typeface="Inter" pitchFamily="34" charset="-122"/>
                <a:cs typeface="Inter" pitchFamily="34" charset="-120"/>
              </a:rPr>
              <a:t>[Around 1,234 chunks]</a:t>
            </a:r>
            <a:endParaRPr lang="en-US" sz="2200" dirty="0">
              <a:latin typeface="Inter" charset="0"/>
              <a:ea typeface="Inter" charset="0"/>
              <a:cs typeface="Inter" charset="0"/>
            </a:endParaRPr>
          </a:p>
        </p:txBody>
      </p:sp>
      <p:sp>
        <p:nvSpPr>
          <p:cNvPr id="14" name="Text 12"/>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DB4AE"/>
                </a:solidFill>
                <a:latin typeface="Inter" pitchFamily="34" charset="0"/>
                <a:ea typeface="Inter" pitchFamily="34" charset="-122"/>
                <a:cs typeface="Inter" pitchFamily="34" charset="-120"/>
              </a:rPr>
              <a:t>ESP32 Docs RAG · 4/10</a:t>
            </a:r>
            <a:endParaRPr lang="en-US" sz="1200" dirty="0">
              <a:latin typeface="Inter" charset="0"/>
              <a:ea typeface="Inter" charset="0"/>
              <a:cs typeface="Inter"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1E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0ED64"/>
                </a:solidFill>
                <a:latin typeface="Inter" pitchFamily="34" charset="0"/>
                <a:ea typeface="Inter" pitchFamily="34" charset="-122"/>
                <a:cs typeface="Inter" pitchFamily="34" charset="-120"/>
              </a:rPr>
              <a:t>ARCHITECTURE</a:t>
            </a:r>
            <a:endParaRPr lang="en-US" sz="1400" dirty="0">
              <a:latin typeface="Inter" charset="0"/>
              <a:ea typeface="Inter" charset="0"/>
              <a:cs typeface="Inter" charset="0"/>
            </a:endParaRPr>
          </a:p>
        </p:txBody>
      </p:sp>
      <p:sp>
        <p:nvSpPr>
          <p:cNvPr id="3" name="Text 1"/>
          <p:cNvSpPr>
            <a:spLocks noGrp="1"/>
          </p:cNvSpPr>
          <p:nvPr>
            <p:ph type="title"/>
          </p:nvPr>
        </p:nvSpPr>
        <p:spPr>
          <a:xfrm>
            <a:off x="812800" y="113789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E8F0EE"/>
                </a:solidFill>
                <a:latin typeface="Inter" pitchFamily="34" charset="0"/>
                <a:ea typeface="Inter" pitchFamily="34" charset="-122"/>
                <a:cs typeface="Inter" pitchFamily="34" charset="-120"/>
              </a:rPr>
              <a:t>From PDF to cited answer</a:t>
            </a:r>
            <a:endParaRPr lang="en-US" sz="3400" dirty="0">
              <a:latin typeface="Inter" charset="0"/>
              <a:ea typeface="Inter" charset="0"/>
              <a:cs typeface="Inter" charset="0"/>
            </a:endParaRPr>
          </a:p>
        </p:txBody>
      </p:sp>
      <p:sp>
        <p:nvSpPr>
          <p:cNvPr id="4" name="Shape 2"/>
          <p:cNvSpPr/>
          <p:nvPr/>
        </p:nvSpPr>
        <p:spPr>
          <a:xfrm>
            <a:off x="815975" y="1920825"/>
            <a:ext cx="3109367" cy="1633835"/>
          </a:xfrm>
          <a:prstGeom prst="roundRect">
            <a:avLst>
              <a:gd name="adj" fmla="val 7579"/>
            </a:avLst>
          </a:prstGeom>
          <a:solidFill>
            <a:srgbClr val="0B2F3F"/>
          </a:solidFill>
          <a:ln w="6350">
            <a:solidFill>
              <a:srgbClr val="1C4556"/>
            </a:solidFill>
            <a:prstDash val="solid"/>
          </a:ln>
        </p:spPr>
      </p:sp>
      <p:sp>
        <p:nvSpPr>
          <p:cNvPr id="5" name="Text 3"/>
          <p:cNvSpPr/>
          <p:nvPr/>
        </p:nvSpPr>
        <p:spPr>
          <a:xfrm>
            <a:off x="1073150" y="2178000"/>
            <a:ext cx="2672867"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ED64"/>
                </a:solidFill>
                <a:latin typeface="Inter" pitchFamily="34" charset="0"/>
                <a:ea typeface="Inter" pitchFamily="34" charset="-122"/>
                <a:cs typeface="Inter" pitchFamily="34" charset="-120"/>
              </a:rPr>
              <a:t>1 · Parse</a:t>
            </a:r>
            <a:endParaRPr lang="en-US" sz="1700" dirty="0">
              <a:latin typeface="Inter" charset="0"/>
              <a:ea typeface="Inter" charset="0"/>
              <a:cs typeface="Inter" charset="0"/>
            </a:endParaRPr>
          </a:p>
        </p:txBody>
      </p:sp>
      <p:sp>
        <p:nvSpPr>
          <p:cNvPr id="6" name="Text 4"/>
          <p:cNvSpPr/>
          <p:nvPr/>
        </p:nvSpPr>
        <p:spPr>
          <a:xfrm>
            <a:off x="1073150" y="2525961"/>
            <a:ext cx="2672867" cy="79692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E8F0EE"/>
                </a:solidFill>
                <a:latin typeface="Inter" pitchFamily="34" charset="0"/>
                <a:ea typeface="Inter" pitchFamily="34" charset="-122"/>
                <a:cs typeface="Inter" pitchFamily="34" charset="-120"/>
              </a:rPr>
              <a:t>PyMuPDF; headers/footers removed; sections from PDF bookmarks</a:t>
            </a:r>
            <a:endParaRPr lang="en-US" sz="1500" dirty="0">
              <a:latin typeface="Inter" charset="0"/>
              <a:ea typeface="Inter" charset="0"/>
              <a:cs typeface="Inter" charset="0"/>
            </a:endParaRPr>
          </a:p>
        </p:txBody>
      </p:sp>
      <p:sp>
        <p:nvSpPr>
          <p:cNvPr id="7" name="Text 5"/>
          <p:cNvSpPr/>
          <p:nvPr/>
        </p:nvSpPr>
        <p:spPr>
          <a:xfrm>
            <a:off x="4080917" y="2524373"/>
            <a:ext cx="365760" cy="452090"/>
          </a:xfrm>
          <a:prstGeom prst="rect">
            <a:avLst/>
          </a:prstGeom>
          <a:noFill/>
          <a:ln/>
        </p:spPr>
        <p:txBody>
          <a:bodyPr wrap="square" lIns="0" tIns="0" rIns="0" bIns="0" rtlCol="0" anchor="t">
            <a:normAutofit/>
          </a:bodyPr>
          <a:lstStyle/>
          <a:p>
            <a:pPr marL="0" indent="0" algn="l">
              <a:lnSpc>
                <a:spcPts val="3360"/>
              </a:lnSpc>
              <a:buNone/>
            </a:pPr>
            <a:r>
              <a:rPr lang="en-US" sz="2400" dirty="0">
                <a:solidFill>
                  <a:srgbClr val="00ED64"/>
                </a:solidFill>
                <a:latin typeface="Inter" pitchFamily="34" charset="0"/>
                <a:ea typeface="Inter" pitchFamily="34" charset="-122"/>
                <a:cs typeface="Inter" pitchFamily="34" charset="-120"/>
              </a:rPr>
              <a:t>→</a:t>
            </a:r>
            <a:endParaRPr lang="en-US" sz="2400" dirty="0">
              <a:latin typeface="Inter" charset="0"/>
              <a:ea typeface="Inter" charset="0"/>
              <a:cs typeface="Inter" charset="0"/>
            </a:endParaRPr>
          </a:p>
        </p:txBody>
      </p:sp>
      <p:sp>
        <p:nvSpPr>
          <p:cNvPr id="8" name="Shape 6"/>
          <p:cNvSpPr/>
          <p:nvPr/>
        </p:nvSpPr>
        <p:spPr>
          <a:xfrm>
            <a:off x="4541292" y="1920825"/>
            <a:ext cx="3109416" cy="1633835"/>
          </a:xfrm>
          <a:prstGeom prst="roundRect">
            <a:avLst>
              <a:gd name="adj" fmla="val 7579"/>
            </a:avLst>
          </a:prstGeom>
          <a:solidFill>
            <a:srgbClr val="0B2F3F"/>
          </a:solidFill>
          <a:ln w="6350">
            <a:solidFill>
              <a:srgbClr val="1C4556"/>
            </a:solidFill>
            <a:prstDash val="solid"/>
          </a:ln>
        </p:spPr>
      </p:sp>
      <p:sp>
        <p:nvSpPr>
          <p:cNvPr id="9" name="Text 7"/>
          <p:cNvSpPr/>
          <p:nvPr/>
        </p:nvSpPr>
        <p:spPr>
          <a:xfrm>
            <a:off x="4798467" y="2178000"/>
            <a:ext cx="2672918"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ED64"/>
                </a:solidFill>
                <a:latin typeface="Inter" pitchFamily="34" charset="0"/>
                <a:ea typeface="Inter" pitchFamily="34" charset="-122"/>
                <a:cs typeface="Inter" pitchFamily="34" charset="-120"/>
              </a:rPr>
              <a:t>2 · Chunk</a:t>
            </a:r>
            <a:endParaRPr lang="en-US" sz="1700" dirty="0">
              <a:latin typeface="Inter" charset="0"/>
              <a:ea typeface="Inter" charset="0"/>
              <a:cs typeface="Inter" charset="0"/>
            </a:endParaRPr>
          </a:p>
        </p:txBody>
      </p:sp>
      <p:sp>
        <p:nvSpPr>
          <p:cNvPr id="10" name="Text 8"/>
          <p:cNvSpPr/>
          <p:nvPr/>
        </p:nvSpPr>
        <p:spPr>
          <a:xfrm>
            <a:off x="4798467" y="2525961"/>
            <a:ext cx="2672918"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E8F0EE"/>
                </a:solidFill>
                <a:latin typeface="Inter" pitchFamily="34" charset="0"/>
                <a:ea typeface="Inter" pitchFamily="34" charset="-122"/>
                <a:cs typeface="Inter" pitchFamily="34" charset="-120"/>
              </a:rPr>
              <a:t>About 1200 characters, never crossing a page</a:t>
            </a:r>
            <a:endParaRPr lang="en-US" sz="1500" dirty="0">
              <a:latin typeface="Inter" charset="0"/>
              <a:ea typeface="Inter" charset="0"/>
              <a:cs typeface="Inter" charset="0"/>
            </a:endParaRPr>
          </a:p>
        </p:txBody>
      </p:sp>
      <p:sp>
        <p:nvSpPr>
          <p:cNvPr id="11" name="Text 9"/>
          <p:cNvSpPr/>
          <p:nvPr/>
        </p:nvSpPr>
        <p:spPr>
          <a:xfrm>
            <a:off x="7806283" y="2524373"/>
            <a:ext cx="365760" cy="452090"/>
          </a:xfrm>
          <a:prstGeom prst="rect">
            <a:avLst/>
          </a:prstGeom>
          <a:noFill/>
          <a:ln/>
        </p:spPr>
        <p:txBody>
          <a:bodyPr wrap="square" lIns="0" tIns="0" rIns="0" bIns="0" rtlCol="0" anchor="t">
            <a:normAutofit/>
          </a:bodyPr>
          <a:lstStyle/>
          <a:p>
            <a:pPr marL="0" indent="0" algn="l">
              <a:lnSpc>
                <a:spcPts val="3360"/>
              </a:lnSpc>
              <a:buNone/>
            </a:pPr>
            <a:r>
              <a:rPr lang="en-US" sz="2400" dirty="0">
                <a:solidFill>
                  <a:srgbClr val="00ED64"/>
                </a:solidFill>
                <a:latin typeface="Inter" pitchFamily="34" charset="0"/>
                <a:ea typeface="Inter" pitchFamily="34" charset="-122"/>
                <a:cs typeface="Inter" pitchFamily="34" charset="-120"/>
              </a:rPr>
              <a:t>→</a:t>
            </a:r>
            <a:endParaRPr lang="en-US" sz="2400" dirty="0">
              <a:latin typeface="Inter" charset="0"/>
              <a:ea typeface="Inter" charset="0"/>
              <a:cs typeface="Inter" charset="0"/>
            </a:endParaRPr>
          </a:p>
        </p:txBody>
      </p:sp>
      <p:sp>
        <p:nvSpPr>
          <p:cNvPr id="12" name="Shape 10"/>
          <p:cNvSpPr/>
          <p:nvPr/>
        </p:nvSpPr>
        <p:spPr>
          <a:xfrm>
            <a:off x="8266658" y="1920825"/>
            <a:ext cx="3109367" cy="1633835"/>
          </a:xfrm>
          <a:prstGeom prst="roundRect">
            <a:avLst>
              <a:gd name="adj" fmla="val 7579"/>
            </a:avLst>
          </a:prstGeom>
          <a:solidFill>
            <a:srgbClr val="0B2F3F"/>
          </a:solidFill>
          <a:ln w="6350">
            <a:solidFill>
              <a:srgbClr val="1C4556"/>
            </a:solidFill>
            <a:prstDash val="solid"/>
          </a:ln>
        </p:spPr>
      </p:sp>
      <p:sp>
        <p:nvSpPr>
          <p:cNvPr id="13" name="Text 11"/>
          <p:cNvSpPr/>
          <p:nvPr/>
        </p:nvSpPr>
        <p:spPr>
          <a:xfrm>
            <a:off x="8523833" y="2178000"/>
            <a:ext cx="2672867"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ED64"/>
                </a:solidFill>
                <a:latin typeface="Inter" pitchFamily="34" charset="0"/>
                <a:ea typeface="Inter" pitchFamily="34" charset="-122"/>
                <a:cs typeface="Inter" pitchFamily="34" charset="-120"/>
              </a:rPr>
              <a:t>3 · Embed</a:t>
            </a:r>
            <a:endParaRPr lang="en-US" sz="1700" dirty="0">
              <a:latin typeface="Inter" charset="0"/>
              <a:ea typeface="Inter" charset="0"/>
              <a:cs typeface="Inter" charset="0"/>
            </a:endParaRPr>
          </a:p>
        </p:txBody>
      </p:sp>
      <p:sp>
        <p:nvSpPr>
          <p:cNvPr id="14" name="Text 12"/>
          <p:cNvSpPr/>
          <p:nvPr/>
        </p:nvSpPr>
        <p:spPr>
          <a:xfrm>
            <a:off x="8523833" y="2525961"/>
            <a:ext cx="2672867" cy="79692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E8F0EE"/>
                </a:solidFill>
                <a:latin typeface="Inter" pitchFamily="34" charset="0"/>
                <a:ea typeface="Inter" pitchFamily="34" charset="-122"/>
                <a:cs typeface="Inter" pitchFamily="34" charset="-120"/>
              </a:rPr>
              <a:t>voyage-4-nano, local, 1024-dim. Chip name + doc type added to the text</a:t>
            </a:r>
            <a:endParaRPr lang="en-US" sz="1500" dirty="0">
              <a:latin typeface="Inter" charset="0"/>
              <a:ea typeface="Inter" charset="0"/>
              <a:cs typeface="Inter" charset="0"/>
            </a:endParaRPr>
          </a:p>
        </p:txBody>
      </p:sp>
      <p:sp>
        <p:nvSpPr>
          <p:cNvPr id="15" name="Shape 13"/>
          <p:cNvSpPr/>
          <p:nvPr/>
        </p:nvSpPr>
        <p:spPr>
          <a:xfrm>
            <a:off x="815975" y="3865811"/>
            <a:ext cx="3109367" cy="1633835"/>
          </a:xfrm>
          <a:prstGeom prst="roundRect">
            <a:avLst>
              <a:gd name="adj" fmla="val 7579"/>
            </a:avLst>
          </a:prstGeom>
          <a:solidFill>
            <a:srgbClr val="0B2F3F"/>
          </a:solidFill>
          <a:ln w="6350">
            <a:solidFill>
              <a:srgbClr val="1C4556"/>
            </a:solidFill>
            <a:prstDash val="solid"/>
          </a:ln>
        </p:spPr>
      </p:sp>
      <p:sp>
        <p:nvSpPr>
          <p:cNvPr id="16" name="Text 14"/>
          <p:cNvSpPr/>
          <p:nvPr/>
        </p:nvSpPr>
        <p:spPr>
          <a:xfrm>
            <a:off x="1073150" y="4122986"/>
            <a:ext cx="2672867"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ED64"/>
                </a:solidFill>
                <a:latin typeface="Inter" pitchFamily="34" charset="0"/>
                <a:ea typeface="Inter" pitchFamily="34" charset="-122"/>
                <a:cs typeface="Inter" pitchFamily="34" charset="-120"/>
              </a:rPr>
              <a:t>4 · Store</a:t>
            </a:r>
            <a:endParaRPr lang="en-US" sz="1700" dirty="0">
              <a:latin typeface="Inter" charset="0"/>
              <a:ea typeface="Inter" charset="0"/>
              <a:cs typeface="Inter" charset="0"/>
            </a:endParaRPr>
          </a:p>
        </p:txBody>
      </p:sp>
      <p:sp>
        <p:nvSpPr>
          <p:cNvPr id="17" name="Text 15"/>
          <p:cNvSpPr/>
          <p:nvPr/>
        </p:nvSpPr>
        <p:spPr>
          <a:xfrm>
            <a:off x="1073150" y="4470946"/>
            <a:ext cx="2672867"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E8F0EE"/>
                </a:solidFill>
                <a:latin typeface="Inter" pitchFamily="34" charset="0"/>
                <a:ea typeface="Inter" pitchFamily="34" charset="-122"/>
                <a:cs typeface="Inter" pitchFamily="34" charset="-120"/>
              </a:rPr>
              <a:t>MongoDB Atlas, one document per chunk</a:t>
            </a:r>
            <a:endParaRPr lang="en-US" sz="1500" dirty="0">
              <a:latin typeface="Inter" charset="0"/>
              <a:ea typeface="Inter" charset="0"/>
              <a:cs typeface="Inter" charset="0"/>
            </a:endParaRPr>
          </a:p>
        </p:txBody>
      </p:sp>
      <p:sp>
        <p:nvSpPr>
          <p:cNvPr id="18" name="Text 16"/>
          <p:cNvSpPr/>
          <p:nvPr/>
        </p:nvSpPr>
        <p:spPr>
          <a:xfrm>
            <a:off x="4080917" y="4469358"/>
            <a:ext cx="365760" cy="452090"/>
          </a:xfrm>
          <a:prstGeom prst="rect">
            <a:avLst/>
          </a:prstGeom>
          <a:noFill/>
          <a:ln/>
        </p:spPr>
        <p:txBody>
          <a:bodyPr wrap="square" lIns="0" tIns="0" rIns="0" bIns="0" rtlCol="0" anchor="t">
            <a:normAutofit/>
          </a:bodyPr>
          <a:lstStyle/>
          <a:p>
            <a:pPr marL="0" indent="0" algn="l">
              <a:lnSpc>
                <a:spcPts val="3360"/>
              </a:lnSpc>
              <a:buNone/>
            </a:pPr>
            <a:r>
              <a:rPr lang="en-US" sz="2400" dirty="0">
                <a:solidFill>
                  <a:srgbClr val="00ED64"/>
                </a:solidFill>
                <a:latin typeface="Inter" pitchFamily="34" charset="0"/>
                <a:ea typeface="Inter" pitchFamily="34" charset="-122"/>
                <a:cs typeface="Inter" pitchFamily="34" charset="-120"/>
              </a:rPr>
              <a:t>→</a:t>
            </a:r>
            <a:endParaRPr lang="en-US" sz="2400" dirty="0">
              <a:latin typeface="Inter" charset="0"/>
              <a:ea typeface="Inter" charset="0"/>
              <a:cs typeface="Inter" charset="0"/>
            </a:endParaRPr>
          </a:p>
        </p:txBody>
      </p:sp>
      <p:sp>
        <p:nvSpPr>
          <p:cNvPr id="19" name="Shape 17"/>
          <p:cNvSpPr/>
          <p:nvPr/>
        </p:nvSpPr>
        <p:spPr>
          <a:xfrm>
            <a:off x="4541292" y="3865811"/>
            <a:ext cx="3109416" cy="1633835"/>
          </a:xfrm>
          <a:prstGeom prst="roundRect">
            <a:avLst>
              <a:gd name="adj" fmla="val 7579"/>
            </a:avLst>
          </a:prstGeom>
          <a:solidFill>
            <a:srgbClr val="0B2F3F"/>
          </a:solidFill>
          <a:ln w="6350">
            <a:solidFill>
              <a:srgbClr val="1C4556"/>
            </a:solidFill>
            <a:prstDash val="solid"/>
          </a:ln>
        </p:spPr>
      </p:sp>
      <p:sp>
        <p:nvSpPr>
          <p:cNvPr id="20" name="Text 18"/>
          <p:cNvSpPr/>
          <p:nvPr/>
        </p:nvSpPr>
        <p:spPr>
          <a:xfrm>
            <a:off x="4798467" y="4122986"/>
            <a:ext cx="2672918"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ED64"/>
                </a:solidFill>
                <a:latin typeface="Inter" pitchFamily="34" charset="0"/>
                <a:ea typeface="Inter" pitchFamily="34" charset="-122"/>
                <a:cs typeface="Inter" pitchFamily="34" charset="-120"/>
              </a:rPr>
              <a:t>5 · Retrieve</a:t>
            </a:r>
            <a:endParaRPr lang="en-US" sz="1700" dirty="0">
              <a:latin typeface="Inter" charset="0"/>
              <a:ea typeface="Inter" charset="0"/>
              <a:cs typeface="Inter" charset="0"/>
            </a:endParaRPr>
          </a:p>
        </p:txBody>
      </p:sp>
      <p:sp>
        <p:nvSpPr>
          <p:cNvPr id="21" name="Text 19"/>
          <p:cNvSpPr/>
          <p:nvPr/>
        </p:nvSpPr>
        <p:spPr>
          <a:xfrm>
            <a:off x="4798467" y="4470946"/>
            <a:ext cx="2672918" cy="79692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E8F0EE"/>
                </a:solidFill>
                <a:latin typeface="Inter" pitchFamily="34" charset="0"/>
                <a:ea typeface="Inter" pitchFamily="34" charset="-122"/>
                <a:cs typeface="Inter" pitchFamily="34" charset="-120"/>
              </a:rPr>
              <a:t>Atlas Vector Search (cosine); chip filter when a chip is named</a:t>
            </a:r>
            <a:endParaRPr lang="en-US" sz="1500" dirty="0">
              <a:latin typeface="Inter" charset="0"/>
              <a:ea typeface="Inter" charset="0"/>
              <a:cs typeface="Inter" charset="0"/>
            </a:endParaRPr>
          </a:p>
        </p:txBody>
      </p:sp>
      <p:sp>
        <p:nvSpPr>
          <p:cNvPr id="22" name="Text 20"/>
          <p:cNvSpPr/>
          <p:nvPr/>
        </p:nvSpPr>
        <p:spPr>
          <a:xfrm>
            <a:off x="7806283" y="4469358"/>
            <a:ext cx="365760" cy="452090"/>
          </a:xfrm>
          <a:prstGeom prst="rect">
            <a:avLst/>
          </a:prstGeom>
          <a:noFill/>
          <a:ln/>
        </p:spPr>
        <p:txBody>
          <a:bodyPr wrap="square" lIns="0" tIns="0" rIns="0" bIns="0" rtlCol="0" anchor="t">
            <a:normAutofit/>
          </a:bodyPr>
          <a:lstStyle/>
          <a:p>
            <a:pPr marL="0" indent="0" algn="l">
              <a:lnSpc>
                <a:spcPts val="3360"/>
              </a:lnSpc>
              <a:buNone/>
            </a:pPr>
            <a:r>
              <a:rPr lang="en-US" sz="2400" dirty="0">
                <a:solidFill>
                  <a:srgbClr val="00ED64"/>
                </a:solidFill>
                <a:latin typeface="Inter" pitchFamily="34" charset="0"/>
                <a:ea typeface="Inter" pitchFamily="34" charset="-122"/>
                <a:cs typeface="Inter" pitchFamily="34" charset="-120"/>
              </a:rPr>
              <a:t>→</a:t>
            </a:r>
            <a:endParaRPr lang="en-US" sz="2400" dirty="0">
              <a:latin typeface="Inter" charset="0"/>
              <a:ea typeface="Inter" charset="0"/>
              <a:cs typeface="Inter" charset="0"/>
            </a:endParaRPr>
          </a:p>
        </p:txBody>
      </p:sp>
      <p:sp>
        <p:nvSpPr>
          <p:cNvPr id="23" name="Shape 21"/>
          <p:cNvSpPr/>
          <p:nvPr/>
        </p:nvSpPr>
        <p:spPr>
          <a:xfrm>
            <a:off x="8266658" y="3865811"/>
            <a:ext cx="3109367" cy="1633835"/>
          </a:xfrm>
          <a:prstGeom prst="roundRect">
            <a:avLst>
              <a:gd name="adj" fmla="val 7579"/>
            </a:avLst>
          </a:prstGeom>
          <a:solidFill>
            <a:srgbClr val="0B2F3F"/>
          </a:solidFill>
          <a:ln w="6350">
            <a:solidFill>
              <a:srgbClr val="1C4556"/>
            </a:solidFill>
            <a:prstDash val="solid"/>
          </a:ln>
        </p:spPr>
      </p:sp>
      <p:sp>
        <p:nvSpPr>
          <p:cNvPr id="24" name="Text 22"/>
          <p:cNvSpPr/>
          <p:nvPr/>
        </p:nvSpPr>
        <p:spPr>
          <a:xfrm>
            <a:off x="8523833" y="4122986"/>
            <a:ext cx="2672867"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ED64"/>
                </a:solidFill>
                <a:latin typeface="Inter" pitchFamily="34" charset="0"/>
                <a:ea typeface="Inter" pitchFamily="34" charset="-122"/>
                <a:cs typeface="Inter" pitchFamily="34" charset="-120"/>
              </a:rPr>
              <a:t>6 · Generate</a:t>
            </a:r>
            <a:endParaRPr lang="en-US" sz="1700" dirty="0">
              <a:latin typeface="Inter" charset="0"/>
              <a:ea typeface="Inter" charset="0"/>
              <a:cs typeface="Inter" charset="0"/>
            </a:endParaRPr>
          </a:p>
        </p:txBody>
      </p:sp>
      <p:sp>
        <p:nvSpPr>
          <p:cNvPr id="25" name="Text 23"/>
          <p:cNvSpPr/>
          <p:nvPr/>
        </p:nvSpPr>
        <p:spPr>
          <a:xfrm>
            <a:off x="8523833" y="4470946"/>
            <a:ext cx="2672867" cy="79692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E8F0EE"/>
                </a:solidFill>
                <a:latin typeface="Inter" pitchFamily="34" charset="0"/>
                <a:ea typeface="Inter" pitchFamily="34" charset="-122"/>
                <a:cs typeface="Inter" pitchFamily="34" charset="-120"/>
              </a:rPr>
              <a:t>Gemini, restricted to retrieved passages; [S1], [S2] citations</a:t>
            </a:r>
            <a:endParaRPr lang="en-US" sz="1500" dirty="0">
              <a:latin typeface="Inter" charset="0"/>
              <a:ea typeface="Inter" charset="0"/>
              <a:cs typeface="Inter" charset="0"/>
            </a:endParaRPr>
          </a:p>
        </p:txBody>
      </p:sp>
      <p:sp>
        <p:nvSpPr>
          <p:cNvPr id="26" name="Text 24"/>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DB4AE"/>
                </a:solidFill>
                <a:latin typeface="Inter" pitchFamily="34" charset="0"/>
                <a:ea typeface="Inter" pitchFamily="34" charset="-122"/>
                <a:cs typeface="Inter" pitchFamily="34" charset="-120"/>
              </a:rPr>
              <a:t>ESP32 Docs RAG · 5/10</a:t>
            </a:r>
            <a:endParaRPr lang="en-US" sz="1200" dirty="0">
              <a:latin typeface="Inter" charset="0"/>
              <a:ea typeface="Inter" charset="0"/>
              <a:cs typeface="Inter"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1E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0ED64"/>
                </a:solidFill>
                <a:latin typeface="Inter" pitchFamily="34" charset="0"/>
                <a:ea typeface="Inter" pitchFamily="34" charset="-122"/>
                <a:cs typeface="Inter" pitchFamily="34" charset="-120"/>
              </a:rPr>
              <a:t>MONGODB USAGE</a:t>
            </a:r>
            <a:endParaRPr lang="en-US" sz="1400" dirty="0">
              <a:latin typeface="Inter" charset="0"/>
              <a:ea typeface="Inter" charset="0"/>
              <a:cs typeface="Inter" charset="0"/>
            </a:endParaRPr>
          </a:p>
        </p:txBody>
      </p:sp>
      <p:sp>
        <p:nvSpPr>
          <p:cNvPr id="3" name="Text 1"/>
          <p:cNvSpPr>
            <a:spLocks noGrp="1"/>
          </p:cNvSpPr>
          <p:nvPr>
            <p:ph type="title"/>
          </p:nvPr>
        </p:nvSpPr>
        <p:spPr>
          <a:xfrm>
            <a:off x="812800" y="113789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E8F0EE"/>
                </a:solidFill>
                <a:latin typeface="Inter" pitchFamily="34" charset="0"/>
                <a:ea typeface="Inter" pitchFamily="34" charset="-122"/>
                <a:cs typeface="Inter" pitchFamily="34" charset="-120"/>
              </a:rPr>
              <a:t>One document holds it all</a:t>
            </a:r>
            <a:endParaRPr lang="en-US" sz="3400" dirty="0">
              <a:latin typeface="Inter" charset="0"/>
              <a:ea typeface="Inter" charset="0"/>
              <a:cs typeface="Inter" charset="0"/>
            </a:endParaRPr>
          </a:p>
        </p:txBody>
      </p:sp>
      <p:sp>
        <p:nvSpPr>
          <p:cNvPr id="4" name="Text 2"/>
          <p:cNvSpPr/>
          <p:nvPr/>
        </p:nvSpPr>
        <p:spPr>
          <a:xfrm>
            <a:off x="862584" y="1917650"/>
            <a:ext cx="5554345" cy="2185392"/>
          </a:xfrm>
          <a:prstGeom prst="rect">
            <a:avLst/>
          </a:prstGeom>
          <a:noFill/>
          <a:ln/>
        </p:spPr>
        <p:txBody>
          <a:bodyPr wrap="square" lIns="0" tIns="0" rIns="0" bIns="0" rtlCol="0" anchor="t">
            <a:normAutofit/>
          </a:bodyPr>
          <a:lstStyle/>
          <a:p>
            <a:pPr marL="204216" indent="-204216" algn="l">
              <a:lnSpc>
                <a:spcPts val="2430"/>
              </a:lnSpc>
              <a:buSzPct val="100000"/>
              <a:buChar char="•"/>
            </a:pPr>
            <a:r>
              <a:rPr lang="en-US" sz="1800" dirty="0">
                <a:solidFill>
                  <a:srgbClr val="E8F0EE"/>
                </a:solidFill>
                <a:latin typeface="Inter" pitchFamily="34" charset="0"/>
                <a:ea typeface="Inter" pitchFamily="34" charset="-122"/>
                <a:cs typeface="Inter" pitchFamily="34" charset="-120"/>
              </a:rPr>
              <a:t>Document model: text + vector + metadata together</a:t>
            </a:r>
            <a:endParaRPr lang="en-US" sz="1800" dirty="0">
              <a:latin typeface="Inter" charset="0"/>
              <a:ea typeface="Inter" charset="0"/>
              <a:cs typeface="Inter" charset="0"/>
            </a:endParaRPr>
          </a:p>
          <a:p>
            <a:pPr marL="204216" indent="-204216" algn="l">
              <a:lnSpc>
                <a:spcPts val="2430"/>
              </a:lnSpc>
              <a:buSzPct val="100000"/>
              <a:buChar char="•"/>
            </a:pPr>
            <a:r>
              <a:rPr lang="en-US" sz="1800" dirty="0">
                <a:solidFill>
                  <a:srgbClr val="E8F0EE"/>
                </a:solidFill>
                <a:latin typeface="Inter" pitchFamily="34" charset="0"/>
                <a:ea typeface="Inter" pitchFamily="34" charset="-122"/>
                <a:cs typeface="Inter" pitchFamily="34" charset="-120"/>
              </a:rPr>
              <a:t>Atlas Vector Search index on the embedding field</a:t>
            </a:r>
            <a:endParaRPr lang="en-US" sz="1800" dirty="0">
              <a:latin typeface="Inter" charset="0"/>
              <a:ea typeface="Inter" charset="0"/>
              <a:cs typeface="Inter" charset="0"/>
            </a:endParaRPr>
          </a:p>
          <a:p>
            <a:pPr marL="204216" indent="-204216" algn="l">
              <a:lnSpc>
                <a:spcPts val="2430"/>
              </a:lnSpc>
              <a:buSzPct val="100000"/>
              <a:buChar char="•"/>
            </a:pPr>
            <a:r>
              <a:rPr lang="en-US" sz="1800" dirty="0">
                <a:solidFill>
                  <a:srgbClr val="E8F0EE"/>
                </a:solidFill>
                <a:latin typeface="Inter" pitchFamily="34" charset="0"/>
                <a:ea typeface="Inter" pitchFamily="34" charset="-122"/>
                <a:cs typeface="Inter" pitchFamily="34" charset="-120"/>
              </a:rPr>
              <a:t>Filter fields: chip and doc_type</a:t>
            </a:r>
            <a:endParaRPr lang="en-US" sz="1800" dirty="0">
              <a:latin typeface="Inter" charset="0"/>
              <a:ea typeface="Inter" charset="0"/>
              <a:cs typeface="Inter" charset="0"/>
            </a:endParaRPr>
          </a:p>
          <a:p>
            <a:pPr marL="204216" indent="-204216" algn="l">
              <a:lnSpc>
                <a:spcPts val="2430"/>
              </a:lnSpc>
              <a:buSzPct val="100000"/>
              <a:buChar char="•"/>
            </a:pPr>
            <a:r>
              <a:rPr lang="en-US" sz="1800" dirty="0">
                <a:solidFill>
                  <a:srgbClr val="E8F0EE"/>
                </a:solidFill>
                <a:latin typeface="Inter" pitchFamily="34" charset="0"/>
                <a:ea typeface="Inter" pitchFamily="34" charset="-122"/>
                <a:cs typeface="Inter" pitchFamily="34" charset="-120"/>
              </a:rPr>
              <a:t>Idempotent ingestion: content-hash IDs, re-runs skip unchanged chunks</a:t>
            </a:r>
            <a:endParaRPr lang="en-US" sz="1800" dirty="0">
              <a:latin typeface="Inter" charset="0"/>
              <a:ea typeface="Inter" charset="0"/>
              <a:cs typeface="Inter" charset="0"/>
            </a:endParaRPr>
          </a:p>
        </p:txBody>
      </p:sp>
      <p:sp>
        <p:nvSpPr>
          <p:cNvPr id="5" name="Shape 3"/>
          <p:cNvSpPr/>
          <p:nvPr/>
        </p:nvSpPr>
        <p:spPr>
          <a:xfrm>
            <a:off x="6670675" y="1920825"/>
            <a:ext cx="4705350" cy="3369270"/>
          </a:xfrm>
          <a:prstGeom prst="roundRect">
            <a:avLst>
              <a:gd name="adj" fmla="val 3675"/>
            </a:avLst>
          </a:prstGeom>
          <a:solidFill>
            <a:srgbClr val="0B2F3F"/>
          </a:solidFill>
          <a:ln w="6350">
            <a:solidFill>
              <a:srgbClr val="1C4556"/>
            </a:solidFill>
            <a:prstDash val="solid"/>
          </a:ln>
        </p:spPr>
      </p:sp>
      <p:sp>
        <p:nvSpPr>
          <p:cNvPr id="6" name="Text 4"/>
          <p:cNvSpPr/>
          <p:nvPr/>
        </p:nvSpPr>
        <p:spPr>
          <a:xfrm>
            <a:off x="6927850" y="2178000"/>
            <a:ext cx="431673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0ED64"/>
                </a:solidFill>
                <a:latin typeface="Inter" pitchFamily="34" charset="0"/>
                <a:ea typeface="Inter" pitchFamily="34" charset="-122"/>
                <a:cs typeface="Inter" pitchFamily="34" charset="-120"/>
              </a:rPr>
              <a:t>One document per chunk</a:t>
            </a:r>
            <a:endParaRPr lang="en-US" sz="1400" dirty="0">
              <a:latin typeface="Inter" charset="0"/>
              <a:ea typeface="Inter" charset="0"/>
              <a:cs typeface="Inter" charset="0"/>
            </a:endParaRPr>
          </a:p>
        </p:txBody>
      </p:sp>
      <p:sp>
        <p:nvSpPr>
          <p:cNvPr id="7" name="Text 5"/>
          <p:cNvSpPr/>
          <p:nvPr/>
        </p:nvSpPr>
        <p:spPr>
          <a:xfrm>
            <a:off x="6927850" y="2490391"/>
            <a:ext cx="431673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8F0EE"/>
                </a:solidFill>
                <a:latin typeface="Menlo" pitchFamily="49" charset="0"/>
                <a:ea typeface="Menlo" pitchFamily="49" charset="-122"/>
                <a:cs typeface="Menlo" pitchFamily="49" charset="-120"/>
              </a:rPr>
              <a:t>text</a:t>
            </a:r>
            <a:endParaRPr lang="en-US" sz="1500" dirty="0">
              <a:latin typeface="Menlo" charset="0"/>
              <a:ea typeface="Menlo" charset="0"/>
              <a:cs typeface="Menlo" charset="0"/>
            </a:endParaRPr>
          </a:p>
        </p:txBody>
      </p:sp>
      <p:sp>
        <p:nvSpPr>
          <p:cNvPr id="8" name="Text 6"/>
          <p:cNvSpPr/>
          <p:nvPr/>
        </p:nvSpPr>
        <p:spPr>
          <a:xfrm>
            <a:off x="6927850" y="2820591"/>
            <a:ext cx="431673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8F0EE"/>
                </a:solidFill>
                <a:latin typeface="Menlo" pitchFamily="49" charset="0"/>
                <a:ea typeface="Menlo" pitchFamily="49" charset="-122"/>
                <a:cs typeface="Menlo" pitchFamily="49" charset="-120"/>
              </a:rPr>
              <a:t>embedding</a:t>
            </a:r>
            <a:endParaRPr lang="en-US" sz="1500" dirty="0">
              <a:latin typeface="Menlo" charset="0"/>
              <a:ea typeface="Menlo" charset="0"/>
              <a:cs typeface="Menlo" charset="0"/>
            </a:endParaRPr>
          </a:p>
        </p:txBody>
      </p:sp>
      <p:sp>
        <p:nvSpPr>
          <p:cNvPr id="9" name="Text 7"/>
          <p:cNvSpPr/>
          <p:nvPr/>
        </p:nvSpPr>
        <p:spPr>
          <a:xfrm>
            <a:off x="6927850" y="3150791"/>
            <a:ext cx="431673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8F0EE"/>
                </a:solidFill>
                <a:latin typeface="Menlo" pitchFamily="49" charset="0"/>
                <a:ea typeface="Menlo" pitchFamily="49" charset="-122"/>
                <a:cs typeface="Menlo" pitchFamily="49" charset="-120"/>
              </a:rPr>
              <a:t>chip</a:t>
            </a:r>
            <a:endParaRPr lang="en-US" sz="1500" dirty="0">
              <a:latin typeface="Menlo" charset="0"/>
              <a:ea typeface="Menlo" charset="0"/>
              <a:cs typeface="Menlo" charset="0"/>
            </a:endParaRPr>
          </a:p>
        </p:txBody>
      </p:sp>
      <p:sp>
        <p:nvSpPr>
          <p:cNvPr id="10" name="Text 8"/>
          <p:cNvSpPr/>
          <p:nvPr/>
        </p:nvSpPr>
        <p:spPr>
          <a:xfrm>
            <a:off x="6927850" y="3480991"/>
            <a:ext cx="431673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8F0EE"/>
                </a:solidFill>
                <a:latin typeface="Menlo" pitchFamily="49" charset="0"/>
                <a:ea typeface="Menlo" pitchFamily="49" charset="-122"/>
                <a:cs typeface="Menlo" pitchFamily="49" charset="-120"/>
              </a:rPr>
              <a:t>doc_type</a:t>
            </a:r>
            <a:endParaRPr lang="en-US" sz="1500" dirty="0">
              <a:latin typeface="Menlo" charset="0"/>
              <a:ea typeface="Menlo" charset="0"/>
              <a:cs typeface="Menlo" charset="0"/>
            </a:endParaRPr>
          </a:p>
        </p:txBody>
      </p:sp>
      <p:sp>
        <p:nvSpPr>
          <p:cNvPr id="11" name="Text 9"/>
          <p:cNvSpPr/>
          <p:nvPr/>
        </p:nvSpPr>
        <p:spPr>
          <a:xfrm>
            <a:off x="6927850" y="3811191"/>
            <a:ext cx="431673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8F0EE"/>
                </a:solidFill>
                <a:latin typeface="Menlo" pitchFamily="49" charset="0"/>
                <a:ea typeface="Menlo" pitchFamily="49" charset="-122"/>
                <a:cs typeface="Menlo" pitchFamily="49" charset="-120"/>
              </a:rPr>
              <a:t>page</a:t>
            </a:r>
            <a:endParaRPr lang="en-US" sz="1500" dirty="0">
              <a:latin typeface="Menlo" charset="0"/>
              <a:ea typeface="Menlo" charset="0"/>
              <a:cs typeface="Menlo" charset="0"/>
            </a:endParaRPr>
          </a:p>
        </p:txBody>
      </p:sp>
      <p:sp>
        <p:nvSpPr>
          <p:cNvPr id="12" name="Text 10"/>
          <p:cNvSpPr/>
          <p:nvPr/>
        </p:nvSpPr>
        <p:spPr>
          <a:xfrm>
            <a:off x="6927850" y="4141391"/>
            <a:ext cx="431673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8F0EE"/>
                </a:solidFill>
                <a:latin typeface="Menlo" pitchFamily="49" charset="0"/>
                <a:ea typeface="Menlo" pitchFamily="49" charset="-122"/>
                <a:cs typeface="Menlo" pitchFamily="49" charset="-120"/>
              </a:rPr>
              <a:t>section</a:t>
            </a:r>
            <a:endParaRPr lang="en-US" sz="1500" dirty="0">
              <a:latin typeface="Menlo" charset="0"/>
              <a:ea typeface="Menlo" charset="0"/>
              <a:cs typeface="Menlo" charset="0"/>
            </a:endParaRPr>
          </a:p>
        </p:txBody>
      </p:sp>
      <p:sp>
        <p:nvSpPr>
          <p:cNvPr id="13" name="Text 11"/>
          <p:cNvSpPr/>
          <p:nvPr/>
        </p:nvSpPr>
        <p:spPr>
          <a:xfrm>
            <a:off x="6927850" y="4471591"/>
            <a:ext cx="431673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8F0EE"/>
                </a:solidFill>
                <a:latin typeface="Menlo" pitchFamily="49" charset="0"/>
                <a:ea typeface="Menlo" pitchFamily="49" charset="-122"/>
                <a:cs typeface="Menlo" pitchFamily="49" charset="-120"/>
              </a:rPr>
              <a:t>source_id</a:t>
            </a:r>
            <a:endParaRPr lang="en-US" sz="1500" dirty="0">
              <a:latin typeface="Menlo" charset="0"/>
              <a:ea typeface="Menlo" charset="0"/>
              <a:cs typeface="Menlo" charset="0"/>
            </a:endParaRPr>
          </a:p>
        </p:txBody>
      </p:sp>
      <p:sp>
        <p:nvSpPr>
          <p:cNvPr id="14" name="Text 12"/>
          <p:cNvSpPr/>
          <p:nvPr/>
        </p:nvSpPr>
        <p:spPr>
          <a:xfrm>
            <a:off x="6927850" y="4801791"/>
            <a:ext cx="431673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9DB4AE"/>
                </a:solidFill>
                <a:latin typeface="Inter" pitchFamily="34" charset="0"/>
                <a:ea typeface="Inter" pitchFamily="34" charset="-122"/>
                <a:cs typeface="Inter" pitchFamily="34" charset="-120"/>
              </a:rPr>
              <a:t>A second collection holds source file records</a:t>
            </a:r>
            <a:endParaRPr lang="en-US" sz="1300" dirty="0">
              <a:latin typeface="Inter" charset="0"/>
              <a:ea typeface="Inter" charset="0"/>
              <a:cs typeface="Inter" charset="0"/>
            </a:endParaRPr>
          </a:p>
        </p:txBody>
      </p:sp>
      <p:sp>
        <p:nvSpPr>
          <p:cNvPr id="15" name="Text 1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DB4AE"/>
                </a:solidFill>
                <a:latin typeface="Inter" pitchFamily="34" charset="0"/>
                <a:ea typeface="Inter" pitchFamily="34" charset="-122"/>
                <a:cs typeface="Inter" pitchFamily="34" charset="-120"/>
              </a:rPr>
              <a:t>ESP32 Docs RAG · 6/10</a:t>
            </a:r>
            <a:endParaRPr lang="en-US" sz="1200" dirty="0">
              <a:latin typeface="Inter" charset="0"/>
              <a:ea typeface="Inter" charset="0"/>
              <a:cs typeface="Inter"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141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0ED64"/>
                </a:solidFill>
                <a:latin typeface="Inter" pitchFamily="34" charset="0"/>
                <a:ea typeface="Inter" pitchFamily="34" charset="-122"/>
                <a:cs typeface="Inter" pitchFamily="34" charset="-120"/>
              </a:rPr>
              <a:t>DEMO FLOW</a:t>
            </a:r>
            <a:endParaRPr lang="en-US" sz="1400" dirty="0">
              <a:latin typeface="Inter" charset="0"/>
              <a:ea typeface="Inter" charset="0"/>
              <a:cs typeface="Inter" charset="0"/>
            </a:endParaRPr>
          </a:p>
        </p:txBody>
      </p:sp>
      <p:sp>
        <p:nvSpPr>
          <p:cNvPr id="3" name="Text 1"/>
          <p:cNvSpPr>
            <a:spLocks noGrp="1"/>
          </p:cNvSpPr>
          <p:nvPr>
            <p:ph type="title"/>
          </p:nvPr>
        </p:nvSpPr>
        <p:spPr>
          <a:xfrm>
            <a:off x="812800" y="113789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E8F0EE"/>
                </a:solidFill>
                <a:latin typeface="Inter" pitchFamily="34" charset="0"/>
                <a:ea typeface="Inter" pitchFamily="34" charset="-122"/>
                <a:cs typeface="Inter" pitchFamily="34" charset="-120"/>
              </a:rPr>
              <a:t>Four steps</a:t>
            </a:r>
            <a:endParaRPr lang="en-US" sz="3400" dirty="0">
              <a:latin typeface="Inter" charset="0"/>
              <a:ea typeface="Inter" charset="0"/>
              <a:cs typeface="Inter" charset="0"/>
            </a:endParaRPr>
          </a:p>
        </p:txBody>
      </p:sp>
      <p:sp>
        <p:nvSpPr>
          <p:cNvPr id="4" name="Shape 2"/>
          <p:cNvSpPr/>
          <p:nvPr/>
        </p:nvSpPr>
        <p:spPr>
          <a:xfrm>
            <a:off x="815975" y="1920825"/>
            <a:ext cx="2520950" cy="2407245"/>
          </a:xfrm>
          <a:prstGeom prst="roundRect">
            <a:avLst>
              <a:gd name="adj" fmla="val 5144"/>
            </a:avLst>
          </a:prstGeom>
          <a:solidFill>
            <a:srgbClr val="0B2F3F"/>
          </a:solidFill>
          <a:ln w="6350">
            <a:solidFill>
              <a:srgbClr val="1C4556"/>
            </a:solidFill>
            <a:prstDash val="solid"/>
          </a:ln>
        </p:spPr>
      </p:sp>
      <p:sp>
        <p:nvSpPr>
          <p:cNvPr id="5" name="Text 3"/>
          <p:cNvSpPr/>
          <p:nvPr/>
        </p:nvSpPr>
        <p:spPr>
          <a:xfrm>
            <a:off x="1073150" y="2178000"/>
            <a:ext cx="2066798"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ED64"/>
                </a:solidFill>
                <a:latin typeface="Inter" pitchFamily="34" charset="0"/>
                <a:ea typeface="Inter" pitchFamily="34" charset="-122"/>
                <a:cs typeface="Inter" pitchFamily="34" charset="-120"/>
              </a:rPr>
              <a:t>1 · Add documents</a:t>
            </a:r>
            <a:endParaRPr lang="en-US" sz="1700" dirty="0">
              <a:latin typeface="Inter" charset="0"/>
              <a:ea typeface="Inter" charset="0"/>
              <a:cs typeface="Inter" charset="0"/>
            </a:endParaRPr>
          </a:p>
        </p:txBody>
      </p:sp>
      <p:sp>
        <p:nvSpPr>
          <p:cNvPr id="6" name="Text 4"/>
          <p:cNvSpPr/>
          <p:nvPr/>
        </p:nvSpPr>
        <p:spPr>
          <a:xfrm>
            <a:off x="1073150" y="2525961"/>
            <a:ext cx="2066798" cy="79692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E8F0EE"/>
                </a:solidFill>
                <a:latin typeface="Inter" pitchFamily="34" charset="0"/>
                <a:ea typeface="Inter" pitchFamily="34" charset="-122"/>
                <a:cs typeface="Inter" pitchFamily="34" charset="-120"/>
              </a:rPr>
              <a:t>The ingestion script turns PDFs into searchable chunks.</a:t>
            </a:r>
            <a:endParaRPr lang="en-US" sz="1500" dirty="0">
              <a:latin typeface="Inter" charset="0"/>
              <a:ea typeface="Inter" charset="0"/>
              <a:cs typeface="Inter" charset="0"/>
            </a:endParaRPr>
          </a:p>
        </p:txBody>
      </p:sp>
      <p:sp>
        <p:nvSpPr>
          <p:cNvPr id="7" name="Shape 5"/>
          <p:cNvSpPr/>
          <p:nvPr/>
        </p:nvSpPr>
        <p:spPr>
          <a:xfrm>
            <a:off x="3495675" y="1920825"/>
            <a:ext cx="2520950" cy="2407245"/>
          </a:xfrm>
          <a:prstGeom prst="roundRect">
            <a:avLst>
              <a:gd name="adj" fmla="val 5144"/>
            </a:avLst>
          </a:prstGeom>
          <a:solidFill>
            <a:srgbClr val="0B2F3F"/>
          </a:solidFill>
          <a:ln w="6350">
            <a:solidFill>
              <a:srgbClr val="1C4556"/>
            </a:solidFill>
            <a:prstDash val="solid"/>
          </a:ln>
        </p:spPr>
      </p:sp>
      <p:sp>
        <p:nvSpPr>
          <p:cNvPr id="8" name="Text 6"/>
          <p:cNvSpPr/>
          <p:nvPr/>
        </p:nvSpPr>
        <p:spPr>
          <a:xfrm>
            <a:off x="3752850" y="2178000"/>
            <a:ext cx="2066798" cy="54352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ED64"/>
                </a:solidFill>
                <a:latin typeface="Inter" pitchFamily="34" charset="0"/>
                <a:ea typeface="Inter" pitchFamily="34" charset="-122"/>
                <a:cs typeface="Inter" pitchFamily="34" charset="-120"/>
              </a:rPr>
              <a:t>2 · Ask across chips</a:t>
            </a:r>
            <a:endParaRPr lang="en-US" sz="1700" dirty="0">
              <a:latin typeface="Inter" charset="0"/>
              <a:ea typeface="Inter" charset="0"/>
              <a:cs typeface="Inter" charset="0"/>
            </a:endParaRPr>
          </a:p>
        </p:txBody>
      </p:sp>
      <p:sp>
        <p:nvSpPr>
          <p:cNvPr id="9" name="Text 7"/>
          <p:cNvSpPr/>
          <p:nvPr/>
        </p:nvSpPr>
        <p:spPr>
          <a:xfrm>
            <a:off x="3752850" y="2785021"/>
            <a:ext cx="2066798" cy="105410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E8F0EE"/>
                </a:solidFill>
                <a:latin typeface="Inter" pitchFamily="34" charset="0"/>
                <a:ea typeface="Inter" pitchFamily="34" charset="-122"/>
                <a:cs typeface="Inter" pitchFamily="34" charset="-120"/>
              </a:rPr>
              <a:t>“Compare Wi-Fi and Bluetooth support of ESP32-C3, C6 and H2”</a:t>
            </a:r>
            <a:endParaRPr lang="en-US" sz="1500" dirty="0">
              <a:latin typeface="Inter" charset="0"/>
              <a:ea typeface="Inter" charset="0"/>
              <a:cs typeface="Inter" charset="0"/>
            </a:endParaRPr>
          </a:p>
        </p:txBody>
      </p:sp>
      <p:sp>
        <p:nvSpPr>
          <p:cNvPr id="10" name="Shape 8"/>
          <p:cNvSpPr/>
          <p:nvPr/>
        </p:nvSpPr>
        <p:spPr>
          <a:xfrm>
            <a:off x="6175375" y="1920825"/>
            <a:ext cx="2520950" cy="2407245"/>
          </a:xfrm>
          <a:prstGeom prst="roundRect">
            <a:avLst>
              <a:gd name="adj" fmla="val 5144"/>
            </a:avLst>
          </a:prstGeom>
          <a:solidFill>
            <a:srgbClr val="0B2F3F"/>
          </a:solidFill>
          <a:ln w="6350">
            <a:solidFill>
              <a:srgbClr val="1C4556"/>
            </a:solidFill>
            <a:prstDash val="solid"/>
          </a:ln>
        </p:spPr>
      </p:sp>
      <p:sp>
        <p:nvSpPr>
          <p:cNvPr id="11" name="Text 9"/>
          <p:cNvSpPr/>
          <p:nvPr/>
        </p:nvSpPr>
        <p:spPr>
          <a:xfrm>
            <a:off x="6432550" y="2178000"/>
            <a:ext cx="2066798"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ED64"/>
                </a:solidFill>
                <a:latin typeface="Inter" pitchFamily="34" charset="0"/>
                <a:ea typeface="Inter" pitchFamily="34" charset="-122"/>
                <a:cs typeface="Inter" pitchFamily="34" charset="-120"/>
              </a:rPr>
              <a:t>3 · Open citations</a:t>
            </a:r>
            <a:endParaRPr lang="en-US" sz="1700" dirty="0">
              <a:latin typeface="Inter" charset="0"/>
              <a:ea typeface="Inter" charset="0"/>
              <a:cs typeface="Inter" charset="0"/>
            </a:endParaRPr>
          </a:p>
        </p:txBody>
      </p:sp>
      <p:sp>
        <p:nvSpPr>
          <p:cNvPr id="12" name="Text 10"/>
          <p:cNvSpPr/>
          <p:nvPr/>
        </p:nvSpPr>
        <p:spPr>
          <a:xfrm>
            <a:off x="6432550" y="2525961"/>
            <a:ext cx="2066798"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E8F0EE"/>
                </a:solidFill>
                <a:latin typeface="Inter" pitchFamily="34" charset="0"/>
                <a:ea typeface="Inter" pitchFamily="34" charset="-122"/>
                <a:cs typeface="Inter" pitchFamily="34" charset="-120"/>
              </a:rPr>
              <a:t>See the exact PDF pages used.</a:t>
            </a:r>
            <a:endParaRPr lang="en-US" sz="1500" dirty="0">
              <a:latin typeface="Inter" charset="0"/>
              <a:ea typeface="Inter" charset="0"/>
              <a:cs typeface="Inter" charset="0"/>
            </a:endParaRPr>
          </a:p>
        </p:txBody>
      </p:sp>
      <p:sp>
        <p:nvSpPr>
          <p:cNvPr id="13" name="Shape 11"/>
          <p:cNvSpPr/>
          <p:nvPr/>
        </p:nvSpPr>
        <p:spPr>
          <a:xfrm>
            <a:off x="8855075" y="1920825"/>
            <a:ext cx="2520950" cy="2407245"/>
          </a:xfrm>
          <a:prstGeom prst="roundRect">
            <a:avLst>
              <a:gd name="adj" fmla="val 5144"/>
            </a:avLst>
          </a:prstGeom>
          <a:solidFill>
            <a:srgbClr val="0B2F3F"/>
          </a:solidFill>
          <a:ln w="6350">
            <a:solidFill>
              <a:srgbClr val="1C4556"/>
            </a:solidFill>
            <a:prstDash val="solid"/>
          </a:ln>
        </p:spPr>
      </p:sp>
      <p:sp>
        <p:nvSpPr>
          <p:cNvPr id="14" name="Text 12"/>
          <p:cNvSpPr/>
          <p:nvPr/>
        </p:nvSpPr>
        <p:spPr>
          <a:xfrm>
            <a:off x="9112250" y="2178000"/>
            <a:ext cx="2066798" cy="54352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ED64"/>
                </a:solidFill>
                <a:latin typeface="Inter" pitchFamily="34" charset="0"/>
                <a:ea typeface="Inter" pitchFamily="34" charset="-122"/>
                <a:cs typeface="Inter" pitchFamily="34" charset="-120"/>
              </a:rPr>
              <a:t>4 · Ask the unanswerable</a:t>
            </a:r>
            <a:endParaRPr lang="en-US" sz="1700" dirty="0">
              <a:latin typeface="Inter" charset="0"/>
              <a:ea typeface="Inter" charset="0"/>
              <a:cs typeface="Inter" charset="0"/>
            </a:endParaRPr>
          </a:p>
        </p:txBody>
      </p:sp>
      <p:sp>
        <p:nvSpPr>
          <p:cNvPr id="15" name="Text 13"/>
          <p:cNvSpPr/>
          <p:nvPr/>
        </p:nvSpPr>
        <p:spPr>
          <a:xfrm>
            <a:off x="9112250" y="2785021"/>
            <a:ext cx="2066798" cy="13112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E8F0EE"/>
                </a:solidFill>
                <a:latin typeface="Inter" pitchFamily="34" charset="0"/>
                <a:ea typeface="Inter" pitchFamily="34" charset="-122"/>
                <a:cs typeface="Inter" pitchFamily="34" charset="-120"/>
              </a:rPr>
              <a:t>“What is the Wi-Fi throughput of the ESP32-P4?” The system refuses to invent an answer.</a:t>
            </a:r>
            <a:endParaRPr lang="en-US" sz="1500" dirty="0">
              <a:latin typeface="Inter" charset="0"/>
              <a:ea typeface="Inter" charset="0"/>
              <a:cs typeface="Inter" charset="0"/>
            </a:endParaRPr>
          </a:p>
        </p:txBody>
      </p:sp>
      <p:sp>
        <p:nvSpPr>
          <p:cNvPr id="16" name="Text 14"/>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DB4AE"/>
                </a:solidFill>
                <a:latin typeface="Inter" pitchFamily="34" charset="0"/>
                <a:ea typeface="Inter" pitchFamily="34" charset="-122"/>
                <a:cs typeface="Inter" pitchFamily="34" charset="-120"/>
              </a:rPr>
              <a:t>ESP32 Docs RAG · 7/10</a:t>
            </a:r>
            <a:endParaRPr lang="en-US" sz="1200" dirty="0">
              <a:latin typeface="Inter" charset="0"/>
              <a:ea typeface="Inter" charset="0"/>
              <a:cs typeface="Inter"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1E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0ED64"/>
                </a:solidFill>
                <a:latin typeface="Inter" pitchFamily="34" charset="0"/>
                <a:ea typeface="Inter" pitchFamily="34" charset="-122"/>
                <a:cs typeface="Inter" pitchFamily="34" charset="-120"/>
              </a:rPr>
              <a:t>EXAMPLE RESULT</a:t>
            </a:r>
            <a:endParaRPr lang="en-US" sz="1400" dirty="0">
              <a:latin typeface="Inter" charset="0"/>
              <a:ea typeface="Inter" charset="0"/>
              <a:cs typeface="Inter" charset="0"/>
            </a:endParaRPr>
          </a:p>
        </p:txBody>
      </p:sp>
      <p:sp>
        <p:nvSpPr>
          <p:cNvPr id="3" name="Text 1"/>
          <p:cNvSpPr>
            <a:spLocks noGrp="1"/>
          </p:cNvSpPr>
          <p:nvPr>
            <p:ph type="title"/>
          </p:nvPr>
        </p:nvSpPr>
        <p:spPr>
          <a:xfrm>
            <a:off x="812800" y="113789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E8F0EE"/>
                </a:solidFill>
                <a:latin typeface="Inter" pitchFamily="34" charset="0"/>
                <a:ea typeface="Inter" pitchFamily="34" charset="-122"/>
                <a:cs typeface="Inter" pitchFamily="34" charset="-120"/>
              </a:rPr>
              <a:t>GPIO9 at boot on the ESP32-C3</a:t>
            </a:r>
            <a:endParaRPr lang="en-US" sz="3400" dirty="0">
              <a:latin typeface="Inter" charset="0"/>
              <a:ea typeface="Inter" charset="0"/>
              <a:cs typeface="Inter" charset="0"/>
            </a:endParaRPr>
          </a:p>
        </p:txBody>
      </p:sp>
      <p:sp>
        <p:nvSpPr>
          <p:cNvPr id="4" name="Text 2"/>
          <p:cNvSpPr/>
          <p:nvPr/>
        </p:nvSpPr>
        <p:spPr>
          <a:xfrm>
            <a:off x="815975" y="1920825"/>
            <a:ext cx="4857750" cy="974030"/>
          </a:xfrm>
          <a:prstGeom prst="roundRect">
            <a:avLst>
              <a:gd name="adj" fmla="val 12713"/>
            </a:avLst>
          </a:prstGeom>
          <a:solidFill>
            <a:srgbClr val="0B2F3F"/>
          </a:solidFill>
          <a:ln w="6350">
            <a:solidFill>
              <a:srgbClr val="1C4556"/>
            </a:solidFill>
            <a:prstDash val="solid"/>
          </a:ln>
        </p:spPr>
        <p:txBody>
          <a:bodyPr wrap="square" lIns="220908" tIns="170108" rIns="90606" bIns="144708" rtlCol="0" anchor="t">
            <a:normAutofit/>
          </a:bodyPr>
          <a:lstStyle/>
          <a:p>
            <a:pPr marL="0" indent="0" algn="l">
              <a:lnSpc>
                <a:spcPts val="2210"/>
              </a:lnSpc>
              <a:buNone/>
            </a:pPr>
            <a:r>
              <a:rPr lang="en-US" sz="1700" dirty="0">
                <a:solidFill>
                  <a:srgbClr val="E8F0EE"/>
                </a:solidFill>
                <a:latin typeface="Inter" pitchFamily="34" charset="0"/>
                <a:ea typeface="Inter" pitchFamily="34" charset="-122"/>
                <a:cs typeface="Inter" pitchFamily="34" charset="-120"/>
              </a:rPr>
              <a:t>“What does GPIO9 do at boot on the ESP32-C3?”</a:t>
            </a:r>
            <a:endParaRPr lang="en-US" sz="1700" dirty="0">
              <a:latin typeface="Inter" charset="0"/>
              <a:ea typeface="Inter" charset="0"/>
              <a:cs typeface="Inter" charset="0"/>
            </a:endParaRPr>
          </a:p>
        </p:txBody>
      </p:sp>
      <p:sp>
        <p:nvSpPr>
          <p:cNvPr id="5" name="Text 3"/>
          <p:cNvSpPr/>
          <p:nvPr/>
        </p:nvSpPr>
        <p:spPr>
          <a:xfrm>
            <a:off x="869696" y="3101231"/>
            <a:ext cx="4945507" cy="1482675"/>
          </a:xfrm>
          <a:prstGeom prst="rect">
            <a:avLst/>
          </a:prstGeom>
          <a:noFill/>
          <a:ln/>
        </p:spPr>
        <p:txBody>
          <a:bodyPr wrap="square" lIns="0" tIns="0" rIns="0" bIns="0" rtlCol="0" anchor="t">
            <a:normAutofit/>
          </a:bodyPr>
          <a:lstStyle/>
          <a:p>
            <a:pPr marL="197104" indent="-197104" algn="l">
              <a:lnSpc>
                <a:spcPts val="2295"/>
              </a:lnSpc>
              <a:buSzPct val="100000"/>
              <a:buChar char="•"/>
            </a:pPr>
            <a:r>
              <a:rPr lang="en-US" sz="1700" dirty="0">
                <a:solidFill>
                  <a:srgbClr val="E8F0EE"/>
                </a:solidFill>
                <a:latin typeface="Inter" pitchFamily="34" charset="0"/>
                <a:ea typeface="Inter" pitchFamily="34" charset="-122"/>
                <a:cs typeface="Inter" pitchFamily="34" charset="-120"/>
              </a:rPr>
              <a:t>GPIO9 is a strapping pin selecting the boot mode (SPI boot vs download boot)</a:t>
            </a:r>
            <a:endParaRPr lang="en-US" sz="1700" dirty="0">
              <a:latin typeface="Inter" charset="0"/>
              <a:ea typeface="Inter" charset="0"/>
              <a:cs typeface="Inter" charset="0"/>
            </a:endParaRPr>
          </a:p>
          <a:p>
            <a:pPr marL="197104" indent="-197104" algn="l">
              <a:lnSpc>
                <a:spcPts val="2295"/>
              </a:lnSpc>
              <a:buSzPct val="100000"/>
              <a:buChar char="•"/>
            </a:pPr>
            <a:r>
              <a:rPr lang="en-US" sz="1700" dirty="0">
                <a:solidFill>
                  <a:srgbClr val="E8F0EE"/>
                </a:solidFill>
                <a:latin typeface="Inter" pitchFamily="34" charset="0"/>
                <a:ea typeface="Inter" pitchFamily="34" charset="-122"/>
                <a:cs typeface="Inter" pitchFamily="34" charset="-120"/>
              </a:rPr>
              <a:t>Cited: ESP32-C3 datasheet, pages 30–31</a:t>
            </a:r>
            <a:endParaRPr lang="en-US" sz="1700" dirty="0">
              <a:latin typeface="Inter" charset="0"/>
              <a:ea typeface="Inter" charset="0"/>
              <a:cs typeface="Inter" charset="0"/>
            </a:endParaRPr>
          </a:p>
          <a:p>
            <a:pPr marL="197104" indent="-197104" algn="l">
              <a:lnSpc>
                <a:spcPts val="2295"/>
              </a:lnSpc>
              <a:buSzPct val="100000"/>
              <a:buChar char="•"/>
            </a:pPr>
            <a:r>
              <a:rPr lang="en-US" sz="1700" dirty="0">
                <a:solidFill>
                  <a:srgbClr val="E8F0EE"/>
                </a:solidFill>
                <a:latin typeface="Inter" pitchFamily="34" charset="0"/>
                <a:ea typeface="Inter" pitchFamily="34" charset="-122"/>
                <a:cs typeface="Inter" pitchFamily="34" charset="-120"/>
              </a:rPr>
              <a:t>All 8 retrieved passages came from the correct chip</a:t>
            </a:r>
            <a:endParaRPr lang="en-US" sz="1700" dirty="0">
              <a:latin typeface="Inter" charset="0"/>
              <a:ea typeface="Inter" charset="0"/>
              <a:cs typeface="Inter" charset="0"/>
            </a:endParaRPr>
          </a:p>
        </p:txBody>
      </p:sp>
      <p:sp>
        <p:nvSpPr>
          <p:cNvPr id="6" name="Text 4"/>
          <p:cNvSpPr/>
          <p:nvPr/>
        </p:nvSpPr>
        <p:spPr>
          <a:xfrm>
            <a:off x="5988050" y="1924000"/>
            <a:ext cx="5384800" cy="2628156"/>
          </a:xfrm>
          <a:prstGeom prst="roundRect">
            <a:avLst>
              <a:gd name="adj" fmla="val 4591"/>
            </a:avLst>
          </a:prstGeom>
          <a:noFill/>
          <a:ln w="12700">
            <a:solidFill>
              <a:srgbClr val="00ED64"/>
            </a:solidFill>
            <a:prstDash val="dash"/>
          </a:ln>
        </p:spPr>
        <p:txBody>
          <a:bodyPr wrap="square" lIns="225013" tIns="225013" rIns="225013" bIns="225013" rtlCol="0" anchor="ctr">
            <a:normAutofit/>
          </a:bodyPr>
          <a:lstStyle/>
          <a:p>
            <a:pPr marL="0" indent="0" algn="ctr">
              <a:lnSpc>
                <a:spcPts val="2380"/>
              </a:lnSpc>
              <a:buNone/>
            </a:pPr>
            <a:endParaRPr lang="en-US" sz="1700" dirty="0">
              <a:latin typeface="Inter" charset="0"/>
              <a:ea typeface="Inter" charset="0"/>
              <a:cs typeface="Inter" charset="0"/>
            </a:endParaRPr>
          </a:p>
        </p:txBody>
      </p:sp>
      <p:sp>
        <p:nvSpPr>
          <p:cNvPr id="7" name="Text 5"/>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DB4AE"/>
                </a:solidFill>
                <a:latin typeface="Inter" pitchFamily="34" charset="0"/>
                <a:ea typeface="Inter" pitchFamily="34" charset="-122"/>
                <a:cs typeface="Inter" pitchFamily="34" charset="-120"/>
              </a:rPr>
              <a:t>ESP32 Docs RAG · 8/10</a:t>
            </a:r>
            <a:endParaRPr lang="en-US" sz="1200" dirty="0">
              <a:latin typeface="Inter" charset="0"/>
              <a:ea typeface="Inter" charset="0"/>
              <a:cs typeface="Inter" charset="0"/>
            </a:endParaRPr>
          </a:p>
        </p:txBody>
      </p:sp>
      <p:pic>
        <p:nvPicPr>
          <p:cNvPr id="11" name="Picture 10">
            <a:extLst>
              <a:ext uri="{FF2B5EF4-FFF2-40B4-BE49-F238E27FC236}">
                <a16:creationId xmlns:a16="http://schemas.microsoft.com/office/drawing/2014/main" id="{54DA2C46-167B-01EC-0835-3180211B1FFC}"/>
              </a:ext>
            </a:extLst>
          </p:cNvPr>
          <p:cNvPicPr>
            <a:picLocks noChangeAspect="1"/>
          </p:cNvPicPr>
          <p:nvPr/>
        </p:nvPicPr>
        <p:blipFill>
          <a:blip r:embed="rId3"/>
          <a:stretch>
            <a:fillRect/>
          </a:stretch>
        </p:blipFill>
        <p:spPr>
          <a:xfrm>
            <a:off x="5988050" y="1924000"/>
            <a:ext cx="5384800" cy="262815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1E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0ED64"/>
                </a:solidFill>
                <a:latin typeface="Inter" pitchFamily="34" charset="0"/>
                <a:ea typeface="Inter" pitchFamily="34" charset="-122"/>
                <a:cs typeface="Inter" pitchFamily="34" charset="-120"/>
              </a:rPr>
              <a:t>CHALLENGES &amp; LEARNINGS</a:t>
            </a:r>
            <a:endParaRPr lang="en-US" sz="1400" dirty="0">
              <a:latin typeface="Inter" charset="0"/>
              <a:ea typeface="Inter" charset="0"/>
              <a:cs typeface="Inter" charset="0"/>
            </a:endParaRPr>
          </a:p>
        </p:txBody>
      </p:sp>
      <p:sp>
        <p:nvSpPr>
          <p:cNvPr id="3" name="Text 1"/>
          <p:cNvSpPr>
            <a:spLocks noGrp="1"/>
          </p:cNvSpPr>
          <p:nvPr>
            <p:ph type="title"/>
          </p:nvPr>
        </p:nvSpPr>
        <p:spPr>
          <a:xfrm>
            <a:off x="812800" y="113789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E8F0EE"/>
                </a:solidFill>
                <a:latin typeface="Inter" pitchFamily="34" charset="0"/>
                <a:ea typeface="Inter" pitchFamily="34" charset="-122"/>
                <a:cs typeface="Inter" pitchFamily="34" charset="-120"/>
              </a:rPr>
              <a:t>What we hit and how we handled it</a:t>
            </a:r>
            <a:endParaRPr lang="en-US" sz="3400" dirty="0">
              <a:latin typeface="Inter" charset="0"/>
              <a:ea typeface="Inter" charset="0"/>
              <a:cs typeface="Inter" charset="0"/>
            </a:endParaRPr>
          </a:p>
        </p:txBody>
      </p:sp>
      <p:sp>
        <p:nvSpPr>
          <p:cNvPr id="4" name="Shape 2"/>
          <p:cNvSpPr/>
          <p:nvPr/>
        </p:nvSpPr>
        <p:spPr>
          <a:xfrm>
            <a:off x="815975" y="1920825"/>
            <a:ext cx="10560050" cy="1012130"/>
          </a:xfrm>
          <a:prstGeom prst="roundRect">
            <a:avLst>
              <a:gd name="adj" fmla="val 12234"/>
            </a:avLst>
          </a:prstGeom>
          <a:solidFill>
            <a:srgbClr val="0B2F3F"/>
          </a:solidFill>
          <a:ln w="6350">
            <a:solidFill>
              <a:srgbClr val="1C4556"/>
            </a:solidFill>
            <a:prstDash val="solid"/>
          </a:ln>
        </p:spPr>
      </p:sp>
      <p:sp>
        <p:nvSpPr>
          <p:cNvPr id="5" name="Text 3"/>
          <p:cNvSpPr/>
          <p:nvPr/>
        </p:nvSpPr>
        <p:spPr>
          <a:xfrm>
            <a:off x="1098550" y="2297361"/>
            <a:ext cx="274701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ED64"/>
                </a:solidFill>
                <a:latin typeface="Inter" pitchFamily="34" charset="0"/>
                <a:ea typeface="Inter" pitchFamily="34" charset="-122"/>
                <a:cs typeface="Inter" pitchFamily="34" charset="-120"/>
              </a:rPr>
              <a:t>Mixing chips</a:t>
            </a:r>
            <a:endParaRPr lang="en-US" sz="1700" dirty="0">
              <a:latin typeface="Inter" charset="0"/>
              <a:ea typeface="Inter" charset="0"/>
              <a:cs typeface="Inter" charset="0"/>
            </a:endParaRPr>
          </a:p>
        </p:txBody>
      </p:sp>
      <p:sp>
        <p:nvSpPr>
          <p:cNvPr id="6" name="Text 4"/>
          <p:cNvSpPr/>
          <p:nvPr/>
        </p:nvSpPr>
        <p:spPr>
          <a:xfrm>
            <a:off x="4019550" y="2152600"/>
            <a:ext cx="7286117" cy="57398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E8F0EE"/>
                </a:solidFill>
                <a:latin typeface="Inter" pitchFamily="34" charset="0"/>
                <a:ea typeface="Inter" pitchFamily="34" charset="-122"/>
                <a:cs typeface="Inter" pitchFamily="34" charset="-120"/>
              </a:rPr>
              <a:t>Solved by putting the chip name in the embedded text and filtering by chip</a:t>
            </a:r>
            <a:endParaRPr lang="en-US" sz="1600" dirty="0">
              <a:latin typeface="Inter" charset="0"/>
              <a:ea typeface="Inter" charset="0"/>
              <a:cs typeface="Inter" charset="0"/>
            </a:endParaRPr>
          </a:p>
        </p:txBody>
      </p:sp>
      <p:sp>
        <p:nvSpPr>
          <p:cNvPr id="7" name="Shape 5"/>
          <p:cNvSpPr/>
          <p:nvPr/>
        </p:nvSpPr>
        <p:spPr>
          <a:xfrm>
            <a:off x="815975" y="3244106"/>
            <a:ext cx="10560050" cy="981670"/>
          </a:xfrm>
          <a:prstGeom prst="roundRect">
            <a:avLst>
              <a:gd name="adj" fmla="val 12614"/>
            </a:avLst>
          </a:prstGeom>
          <a:solidFill>
            <a:srgbClr val="0B2F3F"/>
          </a:solidFill>
          <a:ln w="6350">
            <a:solidFill>
              <a:srgbClr val="1C4556"/>
            </a:solidFill>
            <a:prstDash val="solid"/>
          </a:ln>
        </p:spPr>
      </p:sp>
      <p:sp>
        <p:nvSpPr>
          <p:cNvPr id="8" name="Text 6"/>
          <p:cNvSpPr/>
          <p:nvPr/>
        </p:nvSpPr>
        <p:spPr>
          <a:xfrm>
            <a:off x="1098550" y="3475881"/>
            <a:ext cx="2747010" cy="54352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ED64"/>
                </a:solidFill>
                <a:latin typeface="Inter" pitchFamily="34" charset="0"/>
                <a:ea typeface="Inter" pitchFamily="34" charset="-122"/>
                <a:cs typeface="Inter" pitchFamily="34" charset="-120"/>
              </a:rPr>
              <a:t>Cloud embedding API rate limits</a:t>
            </a:r>
            <a:endParaRPr lang="en-US" sz="1700" dirty="0">
              <a:latin typeface="Inter" charset="0"/>
              <a:ea typeface="Inter" charset="0"/>
              <a:cs typeface="Inter" charset="0"/>
            </a:endParaRPr>
          </a:p>
        </p:txBody>
      </p:sp>
      <p:sp>
        <p:nvSpPr>
          <p:cNvPr id="9" name="Text 7"/>
          <p:cNvSpPr/>
          <p:nvPr/>
        </p:nvSpPr>
        <p:spPr>
          <a:xfrm>
            <a:off x="4019550" y="3597771"/>
            <a:ext cx="7286117" cy="29969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E8F0EE"/>
                </a:solidFill>
                <a:latin typeface="Inter" pitchFamily="34" charset="0"/>
                <a:ea typeface="Inter" pitchFamily="34" charset="-122"/>
                <a:cs typeface="Inter" pitchFamily="34" charset="-120"/>
              </a:rPr>
              <a:t>Switched to a local open-weight model</a:t>
            </a:r>
            <a:endParaRPr lang="en-US" sz="1600" dirty="0">
              <a:latin typeface="Inter" charset="0"/>
              <a:ea typeface="Inter" charset="0"/>
              <a:cs typeface="Inter" charset="0"/>
            </a:endParaRPr>
          </a:p>
        </p:txBody>
      </p:sp>
      <p:sp>
        <p:nvSpPr>
          <p:cNvPr id="10" name="Shape 8"/>
          <p:cNvSpPr/>
          <p:nvPr/>
        </p:nvSpPr>
        <p:spPr>
          <a:xfrm>
            <a:off x="815975" y="4536926"/>
            <a:ext cx="10560050" cy="1012130"/>
          </a:xfrm>
          <a:prstGeom prst="roundRect">
            <a:avLst>
              <a:gd name="adj" fmla="val 12234"/>
            </a:avLst>
          </a:prstGeom>
          <a:solidFill>
            <a:srgbClr val="0B2F3F"/>
          </a:solidFill>
          <a:ln w="6350">
            <a:solidFill>
              <a:srgbClr val="1C4556"/>
            </a:solidFill>
            <a:prstDash val="solid"/>
          </a:ln>
        </p:spPr>
      </p:sp>
      <p:sp>
        <p:nvSpPr>
          <p:cNvPr id="11" name="Text 9"/>
          <p:cNvSpPr/>
          <p:nvPr/>
        </p:nvSpPr>
        <p:spPr>
          <a:xfrm>
            <a:off x="1098550" y="4913461"/>
            <a:ext cx="274701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ED64"/>
                </a:solidFill>
                <a:latin typeface="Inter" pitchFamily="34" charset="0"/>
                <a:ea typeface="Inter" pitchFamily="34" charset="-122"/>
                <a:cs typeface="Inter" pitchFamily="34" charset="-120"/>
              </a:rPr>
              <a:t>Known limitation</a:t>
            </a:r>
            <a:endParaRPr lang="en-US" sz="1700" dirty="0">
              <a:latin typeface="Inter" charset="0"/>
              <a:ea typeface="Inter" charset="0"/>
              <a:cs typeface="Inter" charset="0"/>
            </a:endParaRPr>
          </a:p>
        </p:txBody>
      </p:sp>
      <p:sp>
        <p:nvSpPr>
          <p:cNvPr id="12" name="Text 10"/>
          <p:cNvSpPr/>
          <p:nvPr/>
        </p:nvSpPr>
        <p:spPr>
          <a:xfrm>
            <a:off x="4019550" y="4768701"/>
            <a:ext cx="7286117" cy="57398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E8F0EE"/>
                </a:solidFill>
                <a:latin typeface="Inter" pitchFamily="34" charset="0"/>
                <a:ea typeface="Inter" pitchFamily="34" charset="-122"/>
                <a:cs typeface="Inter" pitchFamily="34" charset="-120"/>
              </a:rPr>
              <a:t>Section labels come from PDF bookmarks and can be off at section boundaries; page numbers are exact. Tables parse imperfectly.</a:t>
            </a:r>
            <a:endParaRPr lang="en-US" sz="1600" dirty="0">
              <a:latin typeface="Inter" charset="0"/>
              <a:ea typeface="Inter" charset="0"/>
              <a:cs typeface="Inter" charset="0"/>
            </a:endParaRPr>
          </a:p>
        </p:txBody>
      </p:sp>
      <p:sp>
        <p:nvSpPr>
          <p:cNvPr id="13" name="Text 11"/>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DB4AE"/>
                </a:solidFill>
                <a:latin typeface="Inter" pitchFamily="34" charset="0"/>
                <a:ea typeface="Inter" pitchFamily="34" charset="-122"/>
                <a:cs typeface="Inter" pitchFamily="34" charset="-120"/>
              </a:rPr>
              <a:t>ESP32 Docs RAG · 9/10</a:t>
            </a:r>
            <a:endParaRPr lang="en-US" sz="1200" dirty="0">
              <a:latin typeface="Inter" charset="0"/>
              <a:ea typeface="Inter" charset="0"/>
              <a:cs typeface="Inter"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141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0ED64"/>
                </a:solidFill>
                <a:latin typeface="Inter" pitchFamily="34" charset="0"/>
                <a:ea typeface="Inter" pitchFamily="34" charset="-122"/>
                <a:cs typeface="Inter" pitchFamily="34" charset="-120"/>
              </a:rPr>
              <a:t>NEXT STEPS</a:t>
            </a:r>
            <a:endParaRPr lang="en-US" sz="1400" dirty="0">
              <a:latin typeface="Inter" charset="0"/>
              <a:ea typeface="Inter" charset="0"/>
              <a:cs typeface="Inter" charset="0"/>
            </a:endParaRPr>
          </a:p>
        </p:txBody>
      </p:sp>
      <p:sp>
        <p:nvSpPr>
          <p:cNvPr id="3" name="Text 1"/>
          <p:cNvSpPr/>
          <p:nvPr/>
        </p:nvSpPr>
        <p:spPr>
          <a:xfrm>
            <a:off x="812800" y="113789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dirty="0">
                <a:solidFill>
                  <a:srgbClr val="E8F0EE"/>
                </a:solidFill>
                <a:latin typeface="Inter" pitchFamily="34" charset="0"/>
                <a:ea typeface="Inter" pitchFamily="34" charset="-122"/>
                <a:cs typeface="Inter" pitchFamily="34" charset="-120"/>
              </a:rPr>
              <a:t>Where this goes next</a:t>
            </a:r>
            <a:endParaRPr lang="en-US" sz="3400" dirty="0">
              <a:latin typeface="Inter" charset="0"/>
              <a:ea typeface="Inter" charset="0"/>
              <a:cs typeface="Inter" charset="0"/>
            </a:endParaRPr>
          </a:p>
        </p:txBody>
      </p:sp>
      <p:sp>
        <p:nvSpPr>
          <p:cNvPr id="4" name="Text 2"/>
          <p:cNvSpPr/>
          <p:nvPr/>
        </p:nvSpPr>
        <p:spPr>
          <a:xfrm>
            <a:off x="862584" y="1917650"/>
            <a:ext cx="10825988" cy="1259681"/>
          </a:xfrm>
          <a:prstGeom prst="rect">
            <a:avLst/>
          </a:prstGeom>
          <a:noFill/>
          <a:ln/>
        </p:spPr>
        <p:txBody>
          <a:bodyPr wrap="square" lIns="0" tIns="0" rIns="0" bIns="0" rtlCol="0" anchor="t">
            <a:normAutofit/>
          </a:bodyPr>
          <a:lstStyle/>
          <a:p>
            <a:pPr marL="204216" indent="-204216" algn="l">
              <a:lnSpc>
                <a:spcPts val="2430"/>
              </a:lnSpc>
              <a:buSzPct val="100000"/>
              <a:buChar char="•"/>
            </a:pPr>
            <a:r>
              <a:rPr lang="en-US" sz="1800" dirty="0">
                <a:solidFill>
                  <a:srgbClr val="E8F0EE"/>
                </a:solidFill>
                <a:latin typeface="Inter" pitchFamily="34" charset="0"/>
                <a:ea typeface="Inter" pitchFamily="34" charset="-122"/>
                <a:cs typeface="Inter" pitchFamily="34" charset="-120"/>
              </a:rPr>
              <a:t>Retrieval test set with expected source IDs</a:t>
            </a:r>
            <a:endParaRPr lang="en-US" sz="1800" dirty="0">
              <a:latin typeface="Inter" charset="0"/>
              <a:ea typeface="Inter" charset="0"/>
              <a:cs typeface="Inter" charset="0"/>
            </a:endParaRPr>
          </a:p>
          <a:p>
            <a:pPr marL="204216" indent="-204216" algn="l">
              <a:lnSpc>
                <a:spcPts val="2430"/>
              </a:lnSpc>
              <a:buSzPct val="100000"/>
              <a:buChar char="•"/>
            </a:pPr>
            <a:r>
              <a:rPr lang="en-US" sz="1800" dirty="0">
                <a:solidFill>
                  <a:srgbClr val="E8F0EE"/>
                </a:solidFill>
                <a:latin typeface="Inter" pitchFamily="34" charset="0"/>
                <a:ea typeface="Inter" pitchFamily="34" charset="-122"/>
                <a:cs typeface="Inter" pitchFamily="34" charset="-120"/>
              </a:rPr>
              <a:t>Hybrid search (keyword + vector) for exact tokens like GPIO9 and register names</a:t>
            </a:r>
            <a:endParaRPr lang="en-US" sz="1800" dirty="0">
              <a:latin typeface="Inter" charset="0"/>
              <a:ea typeface="Inter" charset="0"/>
              <a:cs typeface="Inter" charset="0"/>
            </a:endParaRPr>
          </a:p>
          <a:p>
            <a:pPr marL="204216" indent="-204216" algn="l">
              <a:lnSpc>
                <a:spcPts val="2430"/>
              </a:lnSpc>
              <a:buSzPct val="100000"/>
              <a:buChar char="•"/>
            </a:pPr>
            <a:r>
              <a:rPr lang="en-US" sz="1800" dirty="0">
                <a:solidFill>
                  <a:srgbClr val="E8F0EE"/>
                </a:solidFill>
                <a:latin typeface="Inter" pitchFamily="34" charset="0"/>
                <a:ea typeface="Inter" pitchFamily="34" charset="-122"/>
                <a:cs typeface="Inter" pitchFamily="34" charset="-120"/>
              </a:rPr>
              <a:t>Better table handling and heading detection</a:t>
            </a:r>
            <a:endParaRPr lang="en-US" sz="1800" dirty="0">
              <a:latin typeface="Inter" charset="0"/>
              <a:ea typeface="Inter" charset="0"/>
              <a:cs typeface="Inter" charset="0"/>
            </a:endParaRPr>
          </a:p>
          <a:p>
            <a:pPr marL="204216" indent="-204216" algn="l">
              <a:lnSpc>
                <a:spcPts val="2430"/>
              </a:lnSpc>
              <a:buSzPct val="100000"/>
              <a:buChar char="•"/>
            </a:pPr>
            <a:r>
              <a:rPr lang="en-US" sz="1800" dirty="0">
                <a:solidFill>
                  <a:srgbClr val="E8F0EE"/>
                </a:solidFill>
                <a:latin typeface="Inter" pitchFamily="34" charset="0"/>
                <a:ea typeface="Inter" pitchFamily="34" charset="-122"/>
                <a:cs typeface="Inter" pitchFamily="34" charset="-120"/>
              </a:rPr>
              <a:t>Web UI with clickable citations</a:t>
            </a:r>
            <a:endParaRPr lang="en-US" sz="1800" dirty="0">
              <a:latin typeface="Inter" charset="0"/>
              <a:ea typeface="Inter" charset="0"/>
              <a:cs typeface="Inter" charset="0"/>
            </a:endParaRPr>
          </a:p>
        </p:txBody>
      </p:sp>
      <p:sp>
        <p:nvSpPr>
          <p:cNvPr id="5" name="Shape 3"/>
          <p:cNvSpPr/>
          <p:nvPr/>
        </p:nvSpPr>
        <p:spPr>
          <a:xfrm>
            <a:off x="812800" y="3456732"/>
            <a:ext cx="10566400" cy="1259780"/>
          </a:xfrm>
          <a:prstGeom prst="roundRect">
            <a:avLst>
              <a:gd name="adj" fmla="val 10081"/>
            </a:avLst>
          </a:prstGeom>
          <a:solidFill>
            <a:srgbClr val="00ED64"/>
          </a:solidFill>
          <a:ln/>
        </p:spPr>
      </p:sp>
      <p:sp>
        <p:nvSpPr>
          <p:cNvPr id="6" name="Text 4"/>
          <p:cNvSpPr/>
          <p:nvPr/>
        </p:nvSpPr>
        <p:spPr>
          <a:xfrm>
            <a:off x="1117600" y="3685332"/>
            <a:ext cx="10255504" cy="49272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001E2B"/>
                </a:solidFill>
                <a:latin typeface="Inter" pitchFamily="34" charset="0"/>
                <a:ea typeface="Inter" pitchFamily="34" charset="-122"/>
                <a:cs typeface="Inter" pitchFamily="34" charset="-120"/>
              </a:rPr>
              <a:t>Thank you</a:t>
            </a:r>
            <a:endParaRPr lang="en-US" sz="3200" dirty="0">
              <a:latin typeface="Inter" charset="0"/>
              <a:ea typeface="Inter" charset="0"/>
              <a:cs typeface="Inter" charset="0"/>
            </a:endParaRPr>
          </a:p>
        </p:txBody>
      </p:sp>
      <p:sp>
        <p:nvSpPr>
          <p:cNvPr id="7" name="Text 5"/>
          <p:cNvSpPr/>
          <p:nvPr/>
        </p:nvSpPr>
        <p:spPr>
          <a:xfrm>
            <a:off x="1117600" y="4203452"/>
            <a:ext cx="10255504" cy="309860"/>
          </a:xfrm>
          <a:prstGeom prst="rect">
            <a:avLst/>
          </a:prstGeom>
          <a:noFill/>
          <a:ln/>
        </p:spPr>
        <p:txBody>
          <a:bodyPr wrap="square" lIns="0" tIns="0" rIns="0" bIns="0" rtlCol="0" anchor="t">
            <a:normAutofit/>
          </a:bodyPr>
          <a:lstStyle/>
          <a:p>
            <a:pPr>
              <a:lnSpc>
                <a:spcPts val="2240"/>
              </a:lnSpc>
            </a:pPr>
            <a:r>
              <a:rPr lang="en-US" sz="1600" b="1" dirty="0">
                <a:solidFill>
                  <a:srgbClr val="001E2B"/>
                </a:solidFill>
                <a:latin typeface="Inter" pitchFamily="34" charset="0"/>
                <a:ea typeface="Inter" pitchFamily="34" charset="-122"/>
                <a:cs typeface="Inter" pitchFamily="34" charset="-120"/>
              </a:rPr>
              <a:t>GitHub Repo Link :https://github.com/yugg1108/RAG-System-for-ESP32-S3-C3-C6-H2-P4</a:t>
            </a:r>
            <a:endParaRPr lang="en-US" sz="1600" dirty="0">
              <a:latin typeface="Inter" charset="0"/>
              <a:ea typeface="Inter" charset="0"/>
              <a:cs typeface="Inter" charset="0"/>
            </a:endParaRPr>
          </a:p>
        </p:txBody>
      </p:sp>
      <p:sp>
        <p:nvSpPr>
          <p:cNvPr id="8" name="Text 6"/>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DB4AE"/>
                </a:solidFill>
                <a:latin typeface="Inter" pitchFamily="34" charset="0"/>
                <a:ea typeface="Inter" pitchFamily="34" charset="-122"/>
                <a:cs typeface="Inter" pitchFamily="34" charset="-120"/>
              </a:rPr>
              <a:t>ESP32 Docs RAG · 10/10</a:t>
            </a:r>
            <a:endParaRPr lang="en-US" sz="1200" dirty="0">
              <a:latin typeface="Inter" charset="0"/>
              <a:ea typeface="Inter" charset="0"/>
              <a:cs typeface="Inter" charset="0"/>
            </a:endParaRPr>
          </a:p>
        </p:txBody>
      </p:sp>
    </p:spTree>
  </p:cSld>
  <p:clrMapOvr>
    <a:masterClrMapping/>
  </p:clrMapOvr>
</p:sld>
</file>

<file path=ppt/theme/theme1.xml><?xml version="1.0" encoding="utf-8"?>
<a:theme xmlns:a="http://schemas.openxmlformats.org/drawingml/2006/main" name="ESP32 Docs RAG — Hackathon Demo">
  <a:themeElements>
    <a:clrScheme name="ESP32 Docs RAG — Hackathon Demo">
      <a:dk1>
        <a:srgbClr val="001E2B"/>
      </a:dk1>
      <a:lt1>
        <a:srgbClr val="E8F0EE"/>
      </a:lt1>
      <a:dk2>
        <a:srgbClr val="17333F"/>
      </a:dk2>
      <a:lt2>
        <a:srgbClr val="AEBCBD"/>
      </a:lt2>
      <a:accent1>
        <a:srgbClr val="00ED64"/>
      </a:accent1>
      <a:accent2>
        <a:srgbClr val="9DB4AE"/>
      </a:accent2>
      <a:accent3>
        <a:srgbClr val="9AA0A6"/>
      </a:accent3>
      <a:accent4>
        <a:srgbClr val="8B9CA0"/>
      </a:accent4>
      <a:accent5>
        <a:srgbClr val="687D83"/>
      </a:accent5>
      <a:accent6>
        <a:srgbClr val="465D65"/>
      </a:accent6>
      <a:hlink>
        <a:srgbClr val="0563C1"/>
      </a:hlink>
      <a:folHlink>
        <a:srgbClr val="954F72"/>
      </a:folHlink>
    </a:clrScheme>
    <a:fontScheme name="ESP32 Docs RAG — Hackathon Demo">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643</Words>
  <Application>Microsoft Office PowerPoint</Application>
  <PresentationFormat>Widescreen</PresentationFormat>
  <Paragraphs>113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Menlo</vt:lpstr>
      <vt:lpstr>Arial</vt:lpstr>
      <vt:lpstr>Inter</vt:lpstr>
      <vt:lpstr>ESP32 Docs RAG — Hackathon Demo</vt:lpstr>
      <vt:lpstr>ESP32 Docs RAG</vt:lpstr>
      <vt:lpstr>Chip docs are easy to mix up</vt:lpstr>
      <vt:lpstr>A RAG app that answers from the docs only</vt:lpstr>
      <vt:lpstr>Official Espressif docs, 6 chips</vt:lpstr>
      <vt:lpstr>From PDF to cited answer</vt:lpstr>
      <vt:lpstr>One document holds it all</vt:lpstr>
      <vt:lpstr>Four steps</vt:lpstr>
      <vt:lpstr>GPIO9 at boot on the ESP32-C3</vt:lpstr>
      <vt:lpstr>What we hit and how we handled it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ESP32 Docs RAG — Hackathon Demo</dc:title>
  <dc:subject/>
  <dc:creator>Yug Gopani</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presentationâ€™s text: its family and style names and the weight and style it declares were rewritten, and any digital signature, which no longer matched, was removed. Google Fonts serves each family in parts, one file per range of characters, so these may not be a familyâ€™s complete files. Each familyâ€™s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dc:description>
  <cp:lastModifiedBy>Ranjan Gopani</cp:lastModifiedBy>
  <cp:revision>2</cp:revision>
  <dcterms:created xsi:type="dcterms:W3CDTF">2026-10-31T10:07:45Z</dcterms:created>
  <dcterms:modified xsi:type="dcterms:W3CDTF">2026-10-31T15:07:54Z</dcterms:modified>
</cp:coreProperties>
</file>